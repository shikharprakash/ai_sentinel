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IN" sz="1400" b="1">
                <a:solidFill>
                  <a:srgbClr val="0D274D"/>
                </a:solidFill>
              </a:rPr>
              <a:t>Shadow AI risk &amp; governance market (US$B)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US$B</c:v>
                </c:pt>
              </c:strCache>
            </c:strRef>
          </c:tx>
          <c:spPr>
            <a:solidFill>
              <a:srgbClr val="049FD9"/>
            </a:solidFill>
          </c:spPr>
          <c:invertIfNegative val="1"/>
          <c:dLbls>
            <c:numFmt formatCode="&quot;$&quot;0.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1F2A36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1.39</c:v>
                </c:pt>
                <c:pt idx="1">
                  <c:v>1.88</c:v>
                </c:pt>
                <c:pt idx="2">
                  <c:v>2.56</c:v>
                </c:pt>
                <c:pt idx="3">
                  <c:v>3.47</c:v>
                </c:pt>
                <c:pt idx="4">
                  <c:v>4.7</c:v>
                </c:pt>
                <c:pt idx="5">
                  <c:v>6.37</c:v>
                </c:pt>
                <c:pt idx="6">
                  <c:v>8.64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3BB-764D-9A93-BEFF85E7802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5DD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5B67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IN" sz="1400" b="1">
                <a:solidFill>
                  <a:srgbClr val="0D274D"/>
                </a:solidFill>
              </a:rPr>
              <a:t>Long-run market share, % (Urban et al., 1986)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 of entry only</c:v>
                </c:pt>
              </c:strCache>
            </c:strRef>
          </c:tx>
          <c:spPr>
            <a:solidFill>
              <a:srgbClr val="5B6770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Pioneer</c:v>
                </c:pt>
                <c:pt idx="1">
                  <c:v>2nd entrant</c:v>
                </c:pt>
                <c:pt idx="2">
                  <c:v>Cisco (3rd)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43.6</c:v>
                </c:pt>
                <c:pt idx="1">
                  <c:v>31</c:v>
                </c:pt>
                <c:pt idx="2">
                  <c:v>25.4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B64-4744-94C3-17789117A6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Cisco preference 1.2x, marketing 1.5x</c:v>
                </c:pt>
              </c:strCache>
            </c:strRef>
          </c:tx>
          <c:spPr>
            <a:solidFill>
              <a:srgbClr val="049FD9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Pioneer</c:v>
                </c:pt>
                <c:pt idx="1">
                  <c:v>2nd entrant</c:v>
                </c:pt>
                <c:pt idx="2">
                  <c:v>Cisco (3rd)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39.200000000000003</c:v>
                </c:pt>
                <c:pt idx="1">
                  <c:v>27.9</c:v>
                </c:pt>
                <c:pt idx="2">
                  <c:v>32.9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B64-4744-94C3-17789117A6E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5DD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5B67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IN" sz="1400" b="1">
                <a:solidFill>
                  <a:srgbClr val="0D274D"/>
                </a:solidFill>
              </a:rPr>
              <a:t>Importance rating, mean of 5 interviews (1-5)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Mean importance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49FD9"/>
              </a:solidFill>
            </c:spPr>
            <c:extLst>
              <c:ext xmlns:c16="http://schemas.microsoft.com/office/drawing/2014/chart" uri="{C3380CC4-5D6E-409C-BE32-E72D297353CC}">
                <c16:uniqueId val="{00000001-1F6D-DF42-B445-8ED2477086EE}"/>
              </c:ext>
            </c:extLst>
          </c:dPt>
          <c:dPt>
            <c:idx val="1"/>
            <c:invertIfNegative val="1"/>
            <c:bubble3D val="0"/>
            <c:spPr>
              <a:solidFill>
                <a:srgbClr val="049FD9"/>
              </a:solidFill>
            </c:spPr>
            <c:extLst>
              <c:ext xmlns:c16="http://schemas.microsoft.com/office/drawing/2014/chart" uri="{C3380CC4-5D6E-409C-BE32-E72D297353CC}">
                <c16:uniqueId val="{00000003-1F6D-DF42-B445-8ED2477086EE}"/>
              </c:ext>
            </c:extLst>
          </c:dPt>
          <c:dPt>
            <c:idx val="2"/>
            <c:invertIfNegative val="1"/>
            <c:bubble3D val="0"/>
            <c:spPr>
              <a:solidFill>
                <a:srgbClr val="049FD9"/>
              </a:solidFill>
            </c:spPr>
            <c:extLst>
              <c:ext xmlns:c16="http://schemas.microsoft.com/office/drawing/2014/chart" uri="{C3380CC4-5D6E-409C-BE32-E72D297353CC}">
                <c16:uniqueId val="{00000005-1F6D-DF42-B445-8ED2477086EE}"/>
              </c:ext>
            </c:extLst>
          </c:dPt>
          <c:dPt>
            <c:idx val="3"/>
            <c:invertIfNegative val="1"/>
            <c:bubble3D val="0"/>
            <c:spPr>
              <a:solidFill>
                <a:srgbClr val="049FD9"/>
              </a:solidFill>
            </c:spPr>
            <c:extLst>
              <c:ext xmlns:c16="http://schemas.microsoft.com/office/drawing/2014/chart" uri="{C3380CC4-5D6E-409C-BE32-E72D297353CC}">
                <c16:uniqueId val="{00000007-1F6D-DF42-B445-8ED2477086EE}"/>
              </c:ext>
            </c:extLst>
          </c:dPt>
          <c:dPt>
            <c:idx val="4"/>
            <c:invertIfNegative val="1"/>
            <c:bubble3D val="0"/>
            <c:spPr>
              <a:solidFill>
                <a:srgbClr val="049FD9"/>
              </a:solidFill>
            </c:spPr>
            <c:extLst>
              <c:ext xmlns:c16="http://schemas.microsoft.com/office/drawing/2014/chart" uri="{C3380CC4-5D6E-409C-BE32-E72D297353CC}">
                <c16:uniqueId val="{00000009-1F6D-DF42-B445-8ED2477086EE}"/>
              </c:ext>
            </c:extLst>
          </c:dPt>
          <c:dPt>
            <c:idx val="5"/>
            <c:invertIfNegative val="1"/>
            <c:bubble3D val="0"/>
            <c:spPr>
              <a:solidFill>
                <a:srgbClr val="0D274D"/>
              </a:solidFill>
            </c:spPr>
            <c:extLst>
              <c:ext xmlns:c16="http://schemas.microsoft.com/office/drawing/2014/chart" uri="{C3380CC4-5D6E-409C-BE32-E72D297353CC}">
                <c16:uniqueId val="{0000000B-1F6D-DF42-B445-8ED2477086EE}"/>
              </c:ext>
            </c:extLst>
          </c:dPt>
          <c:dPt>
            <c:idx val="6"/>
            <c:invertIfNegative val="1"/>
            <c:bubble3D val="0"/>
            <c:spPr>
              <a:solidFill>
                <a:srgbClr val="0D274D"/>
              </a:solidFill>
            </c:spPr>
            <c:extLst>
              <c:ext xmlns:c16="http://schemas.microsoft.com/office/drawing/2014/chart" uri="{C3380CC4-5D6E-409C-BE32-E72D297353CC}">
                <c16:uniqueId val="{0000000D-1F6D-DF42-B445-8ED2477086EE}"/>
              </c:ext>
            </c:extLst>
          </c:dPt>
          <c:dPt>
            <c:idx val="7"/>
            <c:invertIfNegative val="1"/>
            <c:bubble3D val="0"/>
            <c:spPr>
              <a:solidFill>
                <a:srgbClr val="0D274D"/>
              </a:solidFill>
            </c:spPr>
            <c:extLst>
              <c:ext xmlns:c16="http://schemas.microsoft.com/office/drawing/2014/chart" uri="{C3380CC4-5D6E-409C-BE32-E72D297353CC}">
                <c16:uniqueId val="{0000000F-1F6D-DF42-B445-8ED2477086EE}"/>
              </c:ext>
            </c:extLst>
          </c:dPt>
          <c:dPt>
            <c:idx val="8"/>
            <c:invertIfNegative val="1"/>
            <c:bubble3D val="0"/>
            <c:spPr>
              <a:solidFill>
                <a:srgbClr val="0D274D"/>
              </a:solidFill>
            </c:spPr>
            <c:extLst>
              <c:ext xmlns:c16="http://schemas.microsoft.com/office/drawing/2014/chart" uri="{C3380CC4-5D6E-409C-BE32-E72D297353CC}">
                <c16:uniqueId val="{00000011-1F6D-DF42-B445-8ED2477086EE}"/>
              </c:ext>
            </c:extLst>
          </c:dPt>
          <c:dPt>
            <c:idx val="9"/>
            <c:invertIfNegative val="1"/>
            <c:bubble3D val="0"/>
            <c:spPr>
              <a:solidFill>
                <a:srgbClr val="0D274D"/>
              </a:solidFill>
            </c:spPr>
            <c:extLst>
              <c:ext xmlns:c16="http://schemas.microsoft.com/office/drawing/2014/chart" uri="{C3380CC4-5D6E-409C-BE32-E72D297353CC}">
                <c16:uniqueId val="{00000013-1F6D-DF42-B445-8ED2477086EE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Audit &amp; reports</c:v>
                </c:pt>
                <c:pt idx="1">
                  <c:v>Tool access (RBAC)</c:v>
                </c:pt>
                <c:pt idx="2">
                  <c:v>Output checks</c:v>
                </c:pt>
                <c:pt idx="3">
                  <c:v>Savings dashboard</c:v>
                </c:pt>
                <c:pt idx="4">
                  <c:v>Prompt optimizer</c:v>
                </c:pt>
                <c:pt idx="5">
                  <c:v>Multi-tool coverage</c:v>
                </c:pt>
                <c:pt idx="6">
                  <c:v>Preview &amp; undo</c:v>
                </c:pt>
                <c:pt idx="7">
                  <c:v>Local-first checks</c:v>
                </c:pt>
                <c:pt idx="8">
                  <c:v>Data redaction</c:v>
                </c:pt>
                <c:pt idx="9">
                  <c:v>Low friction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2.8</c:v>
                </c:pt>
                <c:pt idx="1">
                  <c:v>3.2</c:v>
                </c:pt>
                <c:pt idx="2">
                  <c:v>3.2</c:v>
                </c:pt>
                <c:pt idx="3">
                  <c:v>3.4</c:v>
                </c:pt>
                <c:pt idx="4">
                  <c:v>4</c:v>
                </c:pt>
                <c:pt idx="5">
                  <c:v>4.2</c:v>
                </c:pt>
                <c:pt idx="6">
                  <c:v>4.2</c:v>
                </c:pt>
                <c:pt idx="7">
                  <c:v>4.4000000000000004</c:v>
                </c:pt>
                <c:pt idx="8">
                  <c:v>4.5999999999999996</c:v>
                </c:pt>
                <c:pt idx="9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1F6D-DF42-B445-8ED2477086E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5DDE3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.4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5B67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IN" sz="1300" b="1">
                <a:solidFill>
                  <a:srgbClr val="0D274D"/>
                </a:solidFill>
              </a:rPr>
              <a:t>Illustrative price test: PED = -0.40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per 1,000 trials (Rs)</c:v>
                </c:pt>
              </c:strCache>
            </c:strRef>
          </c:tx>
          <c:spPr>
            <a:solidFill>
              <a:srgbClr val="049FD9"/>
            </a:solidFill>
          </c:spPr>
          <c:invertIfNegative val="1"/>
          <c:dLbls>
            <c:numFmt formatCode="&quot;Rs 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Rs 399 (4.0% convert)</c:v>
                </c:pt>
                <c:pt idx="1">
                  <c:v>Rs 549 (3.4% convert)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15960</c:v>
                </c:pt>
                <c:pt idx="1">
                  <c:v>18666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F77-8544-88FE-74BC2EE620E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5DD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20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5B67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2171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Seeking approval for a 12-week MVP of Cisco AI Sentinel.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A068C-DCC5-3690-99E3-AE69508F0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9E7AAD-63E5-CA6C-D1DB-57B6C96BD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06246-2C5C-9508-E42E-C8D61C5CC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09/10/26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63F2D-BA50-EC7E-9193-090539079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9347D-77A2-A305-5E3F-2D48F6F6F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727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7C428-4622-282F-F8D7-734ECAA60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D8AF4-CCF5-8552-516F-7C00B8C87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8F61B-B0FD-092D-C7B9-1806726AF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09/10/26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1D443-D64E-E2A4-94E0-63F87BA25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B7DCD-F76B-05A9-9FDF-A74A28A31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695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5A456-A24A-A3CC-2914-630A3B9B4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1EB40-676F-8AA3-D814-828AE9F3B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A682D-8545-9F09-E6D4-F8CC233F8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09/10/26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9B09E-BE35-92F7-0A15-E4C2DA6B5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AE416-39F6-D006-C149-7F5C7BCA9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355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51683-FDF8-395D-3091-7D95DFBD0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71CBC-5A39-733F-9715-CD32211790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661AD4-DCE5-D1D9-2700-D25A17505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300F1-C485-E6AC-BB7B-267611C32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09/10/26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2DDA6-764D-0228-EDE7-5AF35F1B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55A51-58C3-6D32-4E0E-1CBC88DC7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462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A58D0-96CB-7663-11CA-B3E4EA5EB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956A0-A161-E560-B2A1-01634CAFC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178BA-EFEB-BB8C-A593-F5DD86C5A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94CEB4-D4B2-E4CB-24D1-B153E6C9A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0A885A-F64A-48F1-DDFA-6677557568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ABB8F1-7E2F-1369-06D6-C34CF244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09/10/26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9AF0E1-75DD-832C-F35C-DBC692516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CF59AD-B662-86BF-D277-22723DAB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820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C8121-BC99-BCFF-01BA-E2EC3AAF9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205935-3EC9-1297-7FC1-E19B3FAD0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09/10/26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A3FD3-6E51-A936-2261-F321312DD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DA6217-F2F1-9884-EF7B-2E1E0ACAA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370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B1B4AC-3B70-3D2D-F7FA-CA6A87124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09/10/26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811AD9-1731-14F8-DC64-28826C86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49C28-EEB6-C9C2-C20B-E3208CC4D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188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8D2C4-E3DE-9556-E382-9A98BB059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039B9-EA3B-808F-B70F-6031C19FF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EFEB2-530B-7A01-9619-43DA0F4C8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F3FDD-8EAC-7D9C-095F-EAD62CC0A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09/10/26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FBB8F-F67F-75F7-98A2-E31AC238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CF23D-B8F8-96A3-9337-1ADBC6AB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365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4FF28-137C-B797-2D90-533B39B2A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FF8F95-D3DB-BD92-1997-7213AAE5F6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0F91C-B761-C29E-A398-E9FADE8FF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8FA33-F2A5-1544-3AF6-1FFBCED52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09/10/26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7B596-A1E9-0851-BF47-4F35EB8CB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B475A-368B-F0F1-195C-EBABACF78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242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F8FA-2D29-1834-0D14-0A481AA8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D522DB-78DF-AE5D-0289-78B7C0DB6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34EF-9868-12C9-D5BE-FF2372588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09/10/26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44187-CA9E-DE38-D74B-D5366D492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81D6F-DCFC-AF22-E50C-0F5A380BF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253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168341-C8E3-B171-80F2-B535443213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DDF5A8-2163-EF42-EE41-AE2D9E079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81ECF-3E58-DDA7-0EA7-23F1468DD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A28F-1A17-45C5-95D1-FCC51492BEBD}" type="datetimeFigureOut">
              <a:rPr lang="en-IN" smtClean="0"/>
              <a:t>09/10/26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DE769-3ACF-4331-46AC-EC54610A7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B23F6-6BF2-4809-9716-F0F4DABAA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232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74945-89C1-F82C-7849-1A6540DC5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D255D-3AC3-D35D-0AD6-CE39142D7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3EAEA-4A43-A273-D0B9-778BB1C2E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CA28F-1A17-45C5-95D1-FCC51492BEBD}" type="datetimeFigureOut">
              <a:rPr lang="en-IN" smtClean="0"/>
              <a:t>09/10/26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9B0D6-A842-AFE9-6BAA-9E5FCBECB8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90B27-3408-DF30-038D-E49419813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94B1E-C961-48A9-B2D6-B2ECAC89FEF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6DACE5-A4E8-528D-E661-93AA22FEBC4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779260"/>
            <a:ext cx="7938" cy="152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287679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5544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49FD9"/>
                </a:solidFill>
                <a:latin typeface="Calibri"/>
              </a:rPr>
              <a:t>ISB PCPM CAPSTONE  |  PRODUCT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6949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Product Proposal for Cisco AI Sentinel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6766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BFE6F7"/>
                </a:solidFill>
                <a:latin typeface="Calibri"/>
              </a:rPr>
              <a:t>Secure, governed and smarter use of any AI tool, right inside the 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74920"/>
            <a:ext cx="6400800" cy="543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FFFFFF"/>
                </a:solidFill>
                <a:latin typeface="Calibri"/>
              </a:rPr>
              <a:t>Shikhar Prakash</a:t>
            </a:r>
          </a:p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9FB3C8"/>
                </a:solidFill>
                <a:latin typeface="Calibri"/>
              </a:rPr>
              <a:t>Cisco  |  October 2026</a:t>
            </a:r>
          </a:p>
        </p:txBody>
      </p:sp>
      <p:sp>
        <p:nvSpPr>
          <p:cNvPr id="6" name="Oval 5"/>
          <p:cNvSpPr/>
          <p:nvPr/>
        </p:nvSpPr>
        <p:spPr>
          <a:xfrm>
            <a:off x="8229600" y="1554480"/>
            <a:ext cx="2103120" cy="2103120"/>
          </a:xfrm>
          <a:prstGeom prst="ellipse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Govern</a:t>
            </a:r>
          </a:p>
        </p:txBody>
      </p:sp>
      <p:sp>
        <p:nvSpPr>
          <p:cNvPr id="7" name="Oval 6"/>
          <p:cNvSpPr/>
          <p:nvPr/>
        </p:nvSpPr>
        <p:spPr>
          <a:xfrm>
            <a:off x="9692640" y="2377440"/>
            <a:ext cx="2103120" cy="2103120"/>
          </a:xfrm>
          <a:prstGeom prst="ellipse">
            <a:avLst/>
          </a:prstGeom>
          <a:solidFill>
            <a:srgbClr val="0A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Protect</a:t>
            </a:r>
          </a:p>
        </p:txBody>
      </p:sp>
      <p:sp>
        <p:nvSpPr>
          <p:cNvPr id="8" name="Oval 7"/>
          <p:cNvSpPr/>
          <p:nvPr/>
        </p:nvSpPr>
        <p:spPr>
          <a:xfrm>
            <a:off x="8229600" y="3291840"/>
            <a:ext cx="2103120" cy="2103120"/>
          </a:xfrm>
          <a:prstGeom prst="ellipse">
            <a:avLst/>
          </a:prstGeom>
          <a:solidFill>
            <a:srgbClr val="6CC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Optimize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D274D"/>
                </a:solidFill>
                <a:latin typeface="Calibri"/>
              </a:rPr>
              <a:t>Make secure AI use the easiest way to use AI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Cisco AI Sentinel  |  Product proposal  |  Shikhar Prakash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D274D"/>
                </a:solidFill>
                <a:latin typeface="Calibri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47672"/>
            <a:ext cx="5852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6"/>
                </a:solidFill>
                <a:latin typeface="Calibri"/>
              </a:rPr>
              <a:t>Employees adopt AI tools faster than companies can govern them. 48% admit pasting non-public data into GenAI tools.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34640"/>
            <a:ext cx="548640" cy="548640"/>
          </a:xfrm>
          <a:prstGeom prst="ellipse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4320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D274D"/>
                </a:solidFill>
                <a:latin typeface="Calibri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90672"/>
            <a:ext cx="5852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6"/>
                </a:solidFill>
                <a:latin typeface="Calibri"/>
              </a:rPr>
              <a:t>AI Sentinel: a browser extension + Cisco cloud that governs, protects and optimises every prompt across ChatGPT, Gemini and more.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977639"/>
            <a:ext cx="548640" cy="548640"/>
          </a:xfrm>
          <a:prstGeom prst="ellipse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8620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D274D"/>
                </a:solidFill>
                <a:latin typeface="Calibri"/>
              </a:rPr>
              <a:t>Why Cisco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233672"/>
            <a:ext cx="5852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6"/>
                </a:solidFill>
                <a:latin typeface="Calibri"/>
              </a:rPr>
              <a:t>Duo identity, Talos intel, AI Defense models and a channel into mid-market customers offset our late entry.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120640"/>
            <a:ext cx="548640" cy="548640"/>
          </a:xfrm>
          <a:prstGeom prst="ellipse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02920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D274D"/>
                </a:solidFill>
                <a:latin typeface="Calibri"/>
              </a:rPr>
              <a:t>The 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376672"/>
            <a:ext cx="5852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6"/>
                </a:solidFill>
                <a:latin typeface="Calibri"/>
              </a:rPr>
              <a:t>US$1.2M for one squad and a 12-week MVP, with a paid pilot and a launch / no-launch gate in Jan 2027.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1600200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0" y="1709928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049FD9"/>
                </a:solidFill>
                <a:latin typeface="Calibri"/>
              </a:rPr>
              <a:t>48%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1737360"/>
            <a:ext cx="20574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of employees entered non-public company data into GenAI (Cisco, 2024)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3154680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64408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049FD9"/>
                </a:solidFill>
                <a:latin typeface="Calibri"/>
              </a:rPr>
              <a:t>$8.6B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3291840"/>
            <a:ext cx="20574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shadow-AI governance market by 2032, 35.6% CAGR (MarketsandMarkets)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4709160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0" y="4818888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049FD9"/>
                </a:solidFill>
                <a:latin typeface="Calibri"/>
              </a:rPr>
              <a:t>$77M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4846320"/>
            <a:ext cx="20574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obtainable ARR by FY2029 (SOM, author estimate)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1 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D274D"/>
                </a:solidFill>
                <a:latin typeface="Calibri"/>
              </a:rPr>
              <a:t>Cisco brings trust and reach; AI Sentinel adds the user-level AI layer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Cisco AI Sentinel  |  Product proposal  |  Shikhar Prakash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931920" cy="466344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CISCO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0D274D"/>
                </a:solidFill>
                <a:latin typeface="Calibri"/>
              </a:rPr>
              <a:t>$63.3B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770"/>
                </a:solidFill>
                <a:latin typeface="Calibri"/>
              </a:rPr>
              <a:t>FY2026 revenue, +12% YoY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35661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600"/>
              </a:spcAft>
              <a:buClr>
                <a:srgbClr val="049FD9"/>
              </a:buClr>
              <a:buChar char="•"/>
            </a:pPr>
            <a:r>
              <a:rPr sz="1400" b="1" i="0">
                <a:solidFill>
                  <a:srgbClr val="1F2A36"/>
                </a:solidFill>
                <a:latin typeface="Calibri"/>
              </a:rPr>
              <a:t>Networking:</a:t>
            </a:r>
            <a:r>
              <a:rPr sz="1400" b="0" i="0">
                <a:solidFill>
                  <a:srgbClr val="1F2A36"/>
                </a:solidFill>
                <a:latin typeface="Calibri"/>
              </a:rPr>
              <a:t> Catalyst, Meraki</a:t>
            </a:r>
          </a:p>
          <a:p>
            <a:pPr marL="201168" indent="-201168" algn="l">
              <a:spcAft>
                <a:spcPts val="600"/>
              </a:spcAft>
              <a:buClr>
                <a:srgbClr val="049FD9"/>
              </a:buClr>
              <a:buChar char="•"/>
            </a:pPr>
            <a:r>
              <a:rPr sz="1400" b="1" i="0">
                <a:solidFill>
                  <a:srgbClr val="1F2A36"/>
                </a:solidFill>
                <a:latin typeface="Calibri"/>
              </a:rPr>
              <a:t>Security:</a:t>
            </a:r>
            <a:r>
              <a:rPr sz="1400" b="0" i="0">
                <a:solidFill>
                  <a:srgbClr val="1F2A36"/>
                </a:solidFill>
                <a:latin typeface="Calibri"/>
              </a:rPr>
              <a:t> Secure Access, Duo, XDR, AI Defense</a:t>
            </a:r>
          </a:p>
          <a:p>
            <a:pPr marL="201168" indent="-201168" algn="l">
              <a:spcAft>
                <a:spcPts val="600"/>
              </a:spcAft>
              <a:buClr>
                <a:srgbClr val="049FD9"/>
              </a:buClr>
              <a:buChar char="•"/>
            </a:pPr>
            <a:r>
              <a:rPr sz="1400" b="1" i="0">
                <a:solidFill>
                  <a:srgbClr val="1F2A36"/>
                </a:solidFill>
                <a:latin typeface="Calibri"/>
              </a:rPr>
              <a:t>Observability:</a:t>
            </a:r>
            <a:r>
              <a:rPr sz="1400" b="0" i="0">
                <a:solidFill>
                  <a:srgbClr val="1F2A36"/>
                </a:solidFill>
                <a:latin typeface="Calibri"/>
              </a:rPr>
              <a:t> Splunk, ThousandEyes</a:t>
            </a:r>
          </a:p>
          <a:p>
            <a:pPr marL="201168" indent="-201168" algn="l">
              <a:spcAft>
                <a:spcPts val="600"/>
              </a:spcAft>
              <a:buClr>
                <a:srgbClr val="049FD9"/>
              </a:buClr>
              <a:buChar char="•"/>
            </a:pPr>
            <a:r>
              <a:rPr sz="1400" b="1" i="0">
                <a:solidFill>
                  <a:srgbClr val="1F2A36"/>
                </a:solidFill>
                <a:latin typeface="Calibri"/>
              </a:rPr>
              <a:t>Collaboration:</a:t>
            </a:r>
            <a:r>
              <a:rPr sz="1400" b="0" i="0">
                <a:solidFill>
                  <a:srgbClr val="1F2A36"/>
                </a:solidFill>
                <a:latin typeface="Calibri"/>
              </a:rPr>
              <a:t> Webex</a:t>
            </a:r>
          </a:p>
          <a:p>
            <a:pPr marL="201168" indent="-201168" algn="l">
              <a:spcAft>
                <a:spcPts val="600"/>
              </a:spcAft>
              <a:buClr>
                <a:srgbClr val="049FD9"/>
              </a:buClr>
              <a:buChar char="•"/>
            </a:pPr>
            <a:r>
              <a:rPr sz="1400" b="1" i="0">
                <a:solidFill>
                  <a:srgbClr val="1F2A36"/>
                </a:solidFill>
                <a:latin typeface="Calibri"/>
              </a:rPr>
              <a:t>Customers:</a:t>
            </a:r>
            <a:r>
              <a:rPr sz="1400" b="0" i="0">
                <a:solidFill>
                  <a:srgbClr val="1F2A36"/>
                </a:solidFill>
                <a:latin typeface="Calibri"/>
              </a:rPr>
              <a:t> enterprises, mid-market, public sector; partner-led in 180+ countries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554480"/>
            <a:ext cx="67665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0D274D"/>
                </a:solidFill>
                <a:latin typeface="Calibri"/>
              </a:rPr>
              <a:t>“AI Sentinel sits quietly in the browser, catches the API key or customer list before it leaves, enforces company AI policy across every tool, and helps people write better prompts.”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880360"/>
            <a:ext cx="21031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0" y="3063240"/>
            <a:ext cx="502920" cy="502920"/>
          </a:xfrm>
          <a:prstGeom prst="ellipse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65760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D274D"/>
                </a:solidFill>
                <a:latin typeface="Calibri"/>
              </a:rPr>
              <a:t>Govern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023360"/>
            <a:ext cx="1783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Role-based access to AI tools: allow, warn or block by user, group and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880360"/>
            <a:ext cx="21031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0" y="3063240"/>
            <a:ext cx="502920" cy="502920"/>
          </a:xfrm>
          <a:prstGeom prst="ellipse">
            <a:avLst/>
          </a:prstGeom>
          <a:solidFill>
            <a:srgbClr val="0A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65760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D274D"/>
                </a:solidFill>
                <a:latin typeface="Calibri"/>
              </a:rPr>
              <a:t>Protect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023360"/>
            <a:ext cx="1783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Real-time PII, secrets and injection checks, with one-click redaction on the device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2880360"/>
            <a:ext cx="21031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01200" y="3063240"/>
            <a:ext cx="502920" cy="502920"/>
          </a:xfrm>
          <a:prstGeom prst="ellipse">
            <a:avLst/>
          </a:prstGeom>
          <a:solidFill>
            <a:srgbClr val="6CC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65760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D274D"/>
                </a:solidFill>
                <a:latin typeface="Calibri"/>
              </a:rPr>
              <a:t>Optimize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4023360"/>
            <a:ext cx="1783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Opt-in Prompt Copilot: clearer, leaner prompts with before/after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349240"/>
            <a:ext cx="6766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2A36"/>
                </a:solidFill>
                <a:latin typeface="Calibri"/>
              </a:rPr>
              <a:t>Buyers:</a:t>
            </a:r>
            <a:r>
              <a:rPr sz="1300" b="0" i="0">
                <a:solidFill>
                  <a:srgbClr val="1F2A36"/>
                </a:solidFill>
                <a:latin typeface="Calibri"/>
              </a:rPr>
              <a:t> CISOs and IT leaders at 100-5,000-employee firms (Duo / Meraki base first)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2A36"/>
                </a:solidFill>
                <a:latin typeface="Calibri"/>
              </a:rPr>
              <a:t>Users:</a:t>
            </a:r>
            <a:r>
              <a:rPr sz="1300" b="0" i="0">
                <a:solidFill>
                  <a:srgbClr val="1F2A36"/>
                </a:solidFill>
                <a:latin typeface="Calibri"/>
              </a:rPr>
              <a:t> knowledge workers  |  </a:t>
            </a:r>
            <a:r>
              <a:rPr sz="1300" b="1" i="0">
                <a:solidFill>
                  <a:srgbClr val="1F2A36"/>
                </a:solidFill>
                <a:latin typeface="Calibri"/>
              </a:rPr>
              <a:t>On-ramp:</a:t>
            </a:r>
            <a:r>
              <a:rPr sz="1300" b="0" i="0">
                <a:solidFill>
                  <a:srgbClr val="1F2A36"/>
                </a:solidFill>
                <a:latin typeface="Calibri"/>
              </a:rPr>
              <a:t> freemium for AI power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2  TARGET MARKET LANDSCAPE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D274D"/>
                </a:solidFill>
                <a:latin typeface="Calibri"/>
              </a:rPr>
              <a:t>A fast-growing market with a ~$2.9B serviceable opportunity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Cisco AI Sentinel  |  Product proposal  |  Shikhar Prakash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0020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5216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35.6% CAGR 2026-2032. Source: MarketsandMarkets (Sept 2026). AI TRiSM: $3.1B to $11.6B by 2031.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645920"/>
            <a:ext cx="5029200" cy="1280160"/>
          </a:xfrm>
          <a:prstGeom prst="roundRect">
            <a:avLst>
              <a:gd name="adj" fmla="val 6000"/>
            </a:avLst>
          </a:prstGeom>
          <a:solidFill>
            <a:srgbClr val="BF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173736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D274D"/>
                </a:solidFill>
                <a:latin typeface="Calibri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05740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D274D"/>
                </a:solidFill>
                <a:latin typeface="Calibri"/>
              </a:rPr>
              <a:t>$30B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783080"/>
            <a:ext cx="31546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D274D"/>
                </a:solidFill>
                <a:latin typeface="Calibri"/>
              </a:rPr>
              <a:t>Potential spend: ~300M enterprise GenAI seats + ~150M power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108960"/>
            <a:ext cx="4297680" cy="1280160"/>
          </a:xfrm>
          <a:prstGeom prst="roundRect">
            <a:avLst>
              <a:gd name="adj" fmla="val 6000"/>
            </a:avLst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32004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52044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$2.9B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246120"/>
            <a:ext cx="24231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Cisco-reachable: ~25M mid-market seats (NA, EMEA, India) + ~20M power 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4572000"/>
            <a:ext cx="3566160" cy="1280160"/>
          </a:xfrm>
          <a:prstGeom prst="roundRect">
            <a:avLst>
              <a:gd name="adj" fmla="val 6000"/>
            </a:avLst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0" y="466344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98348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$77M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4709160"/>
            <a:ext cx="169164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ARR by FY2029: 0.75M seats + 0.4M paying individuals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60350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Bottom-up sizing: author estimates (US$72/seat/yr; US$57/user/yr)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2  COMPETITIVE LANDSCAPE &amp; ANSOFF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D274D"/>
                </a:solidFill>
                <a:latin typeface="Calibri"/>
              </a:rPr>
              <a:t>Rivals restrict the user; nobody makes AI both safer and more productive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Cisco AI Sentinel  |  Product proposal  |  Shikhar Prakash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566160" y="1645920"/>
            <a:ext cx="2743200" cy="2103120"/>
          </a:xfrm>
          <a:prstGeom prst="rect">
            <a:avLst/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3566160" y="1645920"/>
            <a:ext cx="0" cy="4206239"/>
          </a:xfrm>
          <a:prstGeom prst="line">
            <a:avLst/>
          </a:prstGeom>
          <a:ln>
            <a:solidFill>
              <a:srgbClr val="D5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22960" y="3749039"/>
            <a:ext cx="5486400" cy="0"/>
          </a:xfrm>
          <a:prstGeom prst="line">
            <a:avLst/>
          </a:prstGeom>
          <a:ln>
            <a:solidFill>
              <a:srgbClr val="D5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266944" y="2070201"/>
            <a:ext cx="329184" cy="329184"/>
          </a:xfrm>
          <a:prstGeom prst="ellipse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32704" y="2079345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D274D"/>
                </a:solidFill>
                <a:latin typeface="Calibri"/>
              </a:rPr>
              <a:t>AI Sentinel</a:t>
            </a:r>
          </a:p>
        </p:txBody>
      </p:sp>
      <p:sp>
        <p:nvSpPr>
          <p:cNvPr id="12" name="Oval 11"/>
          <p:cNvSpPr/>
          <p:nvPr/>
        </p:nvSpPr>
        <p:spPr>
          <a:xfrm>
            <a:off x="4901184" y="4456785"/>
            <a:ext cx="182880" cy="182880"/>
          </a:xfrm>
          <a:prstGeom prst="ellipse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0" y="4392777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Prisma Browser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0" y="4919472"/>
            <a:ext cx="182880" cy="182880"/>
          </a:xfrm>
          <a:prstGeom prst="ellipse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91455" y="4855464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Island</a:t>
            </a:r>
          </a:p>
        </p:txBody>
      </p:sp>
      <p:sp>
        <p:nvSpPr>
          <p:cNvPr id="16" name="Oval 15"/>
          <p:cNvSpPr/>
          <p:nvPr/>
        </p:nvSpPr>
        <p:spPr>
          <a:xfrm>
            <a:off x="4023360" y="4120286"/>
            <a:ext cx="182880" cy="182880"/>
          </a:xfrm>
          <a:prstGeom prst="ellipse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42816" y="405627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Prompt Security</a:t>
            </a:r>
          </a:p>
        </p:txBody>
      </p:sp>
      <p:sp>
        <p:nvSpPr>
          <p:cNvPr id="18" name="Oval 17"/>
          <p:cNvSpPr/>
          <p:nvPr/>
        </p:nvSpPr>
        <p:spPr>
          <a:xfrm>
            <a:off x="3803904" y="5171846"/>
            <a:ext cx="182880" cy="182880"/>
          </a:xfrm>
          <a:prstGeom prst="ellipse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23359" y="510783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Harmonic / LayerX</a:t>
            </a:r>
          </a:p>
        </p:txBody>
      </p:sp>
      <p:sp>
        <p:nvSpPr>
          <p:cNvPr id="20" name="Oval 19"/>
          <p:cNvSpPr/>
          <p:nvPr/>
        </p:nvSpPr>
        <p:spPr>
          <a:xfrm>
            <a:off x="4517136" y="3405225"/>
            <a:ext cx="182880" cy="182880"/>
          </a:xfrm>
          <a:prstGeom prst="ellipse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36592" y="3341217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MS Purview + Edge</a:t>
            </a:r>
          </a:p>
        </p:txBody>
      </p:sp>
      <p:sp>
        <p:nvSpPr>
          <p:cNvPr id="22" name="Oval 21"/>
          <p:cNvSpPr/>
          <p:nvPr/>
        </p:nvSpPr>
        <p:spPr>
          <a:xfrm>
            <a:off x="4681728" y="5466283"/>
            <a:ext cx="182880" cy="182880"/>
          </a:xfrm>
          <a:prstGeom prst="ellipse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01184" y="5402275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Zscaler / Netskope</a:t>
            </a:r>
          </a:p>
        </p:txBody>
      </p:sp>
      <p:sp>
        <p:nvSpPr>
          <p:cNvPr id="24" name="Oval 23"/>
          <p:cNvSpPr/>
          <p:nvPr/>
        </p:nvSpPr>
        <p:spPr>
          <a:xfrm>
            <a:off x="1280160" y="2395727"/>
            <a:ext cx="182880" cy="182880"/>
          </a:xfrm>
          <a:prstGeom prst="ellipse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99616" y="233172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PromptPerfect / AIPRM</a:t>
            </a:r>
          </a:p>
        </p:txBody>
      </p:sp>
      <p:sp>
        <p:nvSpPr>
          <p:cNvPr id="26" name="Oval 25"/>
          <p:cNvSpPr/>
          <p:nvPr/>
        </p:nvSpPr>
        <p:spPr>
          <a:xfrm>
            <a:off x="1499615" y="3952036"/>
            <a:ext cx="182880" cy="182880"/>
          </a:xfrm>
          <a:prstGeom prst="ellipse">
            <a:avLst/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19072" y="388802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Native AI settings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897879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Security &amp; governance depth →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-1554480" y="3593591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Productivity value to the user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16002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ANSOFF MATRIX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194767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Existing products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19" y="194767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New products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2240279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2A36"/>
                </a:solidFill>
                <a:latin typeface="Calibri"/>
              </a:rPr>
              <a:t>Market penetration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Cross-sell AI Defense / Secure Access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2240279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Product development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AI Sentinel for Duo, Meraki &amp; Secure Access customers (primary)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416052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2A36"/>
                </a:solidFill>
                <a:latin typeface="Calibri"/>
              </a:rPr>
              <a:t>Market development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Take Duo / Secure Access into new regions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18320" y="416052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0A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Related diversification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AI Sentinel Personal for prosumers (contained bet)</a:t>
            </a:r>
          </a:p>
        </p:txBody>
      </p:sp>
      <p:sp>
        <p:nvSpPr>
          <p:cNvPr id="37" name="TextBox 36"/>
          <p:cNvSpPr txBox="1"/>
          <p:nvPr/>
        </p:nvSpPr>
        <p:spPr>
          <a:xfrm rot="16200000">
            <a:off x="5943600" y="3008375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Existing markets</a:t>
            </a:r>
          </a:p>
        </p:txBody>
      </p:sp>
      <p:sp>
        <p:nvSpPr>
          <p:cNvPr id="38" name="TextBox 37"/>
          <p:cNvSpPr txBox="1"/>
          <p:nvPr/>
        </p:nvSpPr>
        <p:spPr>
          <a:xfrm rot="16200000">
            <a:off x="5943600" y="492861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New markets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3  TIMING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D274D"/>
                </a:solidFill>
                <a:latin typeface="Calibri"/>
              </a:rPr>
              <a:t>We enter third; Cisco's reach can recover most of the late-entry penalty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Cisco AI Sentinel  |  Product proposal  |  Shikhar Prakash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00200"/>
          <a:ext cx="60350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49440" y="1645920"/>
            <a:ext cx="2240280" cy="146304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C0392B"/>
                </a:solidFill>
                <a:latin typeface="Calibri"/>
              </a:rPr>
              <a:t>-18 pts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share vs. pioneer = ~$54M ARR lost by FY2029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1645920"/>
            <a:ext cx="2240280" cy="146304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049FD9"/>
                </a:solidFill>
                <a:latin typeface="Calibri"/>
              </a:rPr>
              <a:t>+7.5 pts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recovered: 33% share, ~$99M ARR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3375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D274D"/>
                </a:solidFill>
                <a:latin typeface="Calibri"/>
              </a:rPr>
              <a:t>Late-mover advantages we will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749039"/>
            <a:ext cx="46634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500"/>
              </a:spcAft>
              <a:buClr>
                <a:srgbClr val="049FD9"/>
              </a:buClr>
              <a:buChar char="•"/>
            </a:pPr>
            <a:r>
              <a:rPr sz="1400" b="0" i="0">
                <a:solidFill>
                  <a:srgbClr val="1F2A36"/>
                </a:solidFill>
                <a:latin typeface="Calibri"/>
              </a:rPr>
              <a:t>Pioneers already educated the buyer; budgets exist</a:t>
            </a:r>
          </a:p>
          <a:p>
            <a:pPr marL="201168" indent="-201168" algn="l">
              <a:spcAft>
                <a:spcPts val="500"/>
              </a:spcAft>
              <a:buClr>
                <a:srgbClr val="049FD9"/>
              </a:buClr>
              <a:buChar char="•"/>
            </a:pPr>
            <a:r>
              <a:rPr sz="1400" b="0" i="0">
                <a:solidFill>
                  <a:srgbClr val="1F2A36"/>
                </a:solidFill>
                <a:latin typeface="Calibri"/>
              </a:rPr>
              <a:t>Learn from rivals: heavy rollouts and noisy alerts</a:t>
            </a:r>
          </a:p>
          <a:p>
            <a:pPr marL="201168" indent="-201168" algn="l">
              <a:spcAft>
                <a:spcPts val="500"/>
              </a:spcAft>
              <a:buClr>
                <a:srgbClr val="049FD9"/>
              </a:buClr>
              <a:buChar char="•"/>
            </a:pPr>
            <a:r>
              <a:rPr sz="1400" b="0" i="0">
                <a:solidFill>
                  <a:srgbClr val="1F2A36"/>
                </a:solidFill>
                <a:latin typeface="Calibri"/>
              </a:rPr>
              <a:t>Duo / Meraki base and partner channel cut CAC</a:t>
            </a:r>
          </a:p>
          <a:p>
            <a:pPr marL="201168" indent="-201168" algn="l">
              <a:spcAft>
                <a:spcPts val="500"/>
              </a:spcAft>
              <a:buClr>
                <a:srgbClr val="049FD9"/>
              </a:buClr>
              <a:buChar char="•"/>
            </a:pPr>
            <a:r>
              <a:rPr sz="1400" b="0" i="0">
                <a:solidFill>
                  <a:srgbClr val="1F2A36"/>
                </a:solidFill>
                <a:latin typeface="Calibri"/>
              </a:rPr>
              <a:t>Bundling and brand trust in Enterprise Agreements</a:t>
            </a:r>
          </a:p>
          <a:p>
            <a:pPr marL="201168" indent="-201168" algn="l">
              <a:spcAft>
                <a:spcPts val="500"/>
              </a:spcAft>
              <a:buClr>
                <a:srgbClr val="049FD9"/>
              </a:buClr>
              <a:buChar char="•"/>
            </a:pPr>
            <a:r>
              <a:rPr sz="1400" b="0" i="0">
                <a:solidFill>
                  <a:srgbClr val="1F2A36"/>
                </a:solidFill>
                <a:latin typeface="Calibri"/>
              </a:rPr>
              <a:t>Window closing as SSE vendors bundle: ship in 12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Contested segment: browser-layer AI security, mid-market, ~$300M/yr by FY2029 (estimate)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4  CUSTOMERS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D274D"/>
                </a:solidFill>
                <a:latin typeface="Calibri"/>
              </a:rPr>
              <a:t>Three personas, one journey from 'unaware' to advocate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Cisco AI Sentinel  |  Product proposal  |  Shikhar Prakash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66160" cy="251460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1719072"/>
            <a:ext cx="548640" cy="548640"/>
          </a:xfrm>
          <a:prstGeom prst="ellipse">
            <a:avLst/>
          </a:prstGeom>
          <a:solidFill>
            <a:srgbClr val="6CC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6916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D274D"/>
                </a:solidFill>
                <a:latin typeface="Calibri"/>
              </a:rPr>
              <a:t>Ananya,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02996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AI power user | Developer, Bengaluru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32461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F2A36"/>
                </a:solidFill>
                <a:latin typeface="Calibri"/>
              </a:rPr>
              <a:t>Wants:</a:t>
            </a:r>
            <a:r>
              <a:rPr sz="1300" b="0" i="0">
                <a:solidFill>
                  <a:srgbClr val="1F2A36"/>
                </a:solidFill>
                <a:latin typeface="Calibri"/>
              </a:rPr>
              <a:t> precise answers, fewer tokens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F2A36"/>
                </a:solidFill>
                <a:latin typeface="Calibri"/>
              </a:rPr>
              <a:t>Pain:</a:t>
            </a:r>
            <a:r>
              <a:rPr sz="1300" b="0" i="0">
                <a:solidFill>
                  <a:srgbClr val="1F2A36"/>
                </a:solidFill>
                <a:latin typeface="Calibri"/>
              </a:rPr>
              <a:t> vague prompts; once pasted an API key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F2A36"/>
                </a:solidFill>
                <a:latin typeface="Calibri"/>
              </a:rPr>
              <a:t>Role:</a:t>
            </a:r>
            <a:r>
              <a:rPr sz="1300" b="0" i="0">
                <a:solidFill>
                  <a:srgbClr val="1F2A36"/>
                </a:solidFill>
                <a:latin typeface="Calibri"/>
              </a:rPr>
              <a:t> user and buyer (Rs 299-599/mo)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554480"/>
            <a:ext cx="3566160" cy="251460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480559" y="1719072"/>
            <a:ext cx="548640" cy="548640"/>
          </a:xfrm>
          <a:prstGeom prst="ellipse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59" y="16916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D274D"/>
                </a:solidFill>
                <a:latin typeface="Calibri"/>
              </a:rPr>
              <a:t>Vikram, 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202996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Security leader | CISO, 1,200-staff IT firm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560320"/>
            <a:ext cx="32461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F2A36"/>
                </a:solidFill>
                <a:latin typeface="Calibri"/>
              </a:rPr>
              <a:t>Wants:</a:t>
            </a:r>
            <a:r>
              <a:rPr sz="1300" b="0" i="0">
                <a:solidFill>
                  <a:srgbClr val="1F2A36"/>
                </a:solidFill>
                <a:latin typeface="Calibri"/>
              </a:rPr>
              <a:t> safe AI adoption, audit evidence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F2A36"/>
                </a:solidFill>
                <a:latin typeface="Calibri"/>
              </a:rPr>
              <a:t>Pain:</a:t>
            </a:r>
            <a:r>
              <a:rPr sz="1300" b="0" i="0">
                <a:solidFill>
                  <a:srgbClr val="1F2A36"/>
                </a:solidFill>
                <a:latin typeface="Calibri"/>
              </a:rPr>
              <a:t> no visibility; bans backfire; noisy DLP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F2A36"/>
                </a:solidFill>
                <a:latin typeface="Calibri"/>
              </a:rPr>
              <a:t>Role:</a:t>
            </a:r>
            <a:r>
              <a:rPr sz="1300" b="0" i="0">
                <a:solidFill>
                  <a:srgbClr val="1F2A36"/>
                </a:solidFill>
                <a:latin typeface="Calibri"/>
              </a:rPr>
              <a:t> economic buyer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54480"/>
            <a:ext cx="3566160" cy="251460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599" y="1719072"/>
            <a:ext cx="548640" cy="548640"/>
          </a:xfrm>
          <a:prstGeom prst="ellipse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399" y="16916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D274D"/>
                </a:solidFill>
                <a:latin typeface="Calibri"/>
              </a:rPr>
              <a:t>Meera, 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399" y="202996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Knowledge worker | HR partner, fintech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560320"/>
            <a:ext cx="32461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F2A36"/>
                </a:solidFill>
                <a:latin typeface="Calibri"/>
              </a:rPr>
              <a:t>Wants:</a:t>
            </a:r>
            <a:r>
              <a:rPr sz="1300" b="0" i="0">
                <a:solidFill>
                  <a:srgbClr val="1F2A36"/>
                </a:solidFill>
                <a:latin typeface="Calibri"/>
              </a:rPr>
              <a:t> finish writing faster, never leak PII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F2A36"/>
                </a:solidFill>
                <a:latin typeface="Calibri"/>
              </a:rPr>
              <a:t>Pain:</a:t>
            </a:r>
            <a:r>
              <a:rPr sz="1300" b="0" i="0">
                <a:solidFill>
                  <a:srgbClr val="1F2A36"/>
                </a:solidFill>
                <a:latin typeface="Calibri"/>
              </a:rPr>
              <a:t> unsure what is 'sensitive'; cryptic blocks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F2A36"/>
                </a:solidFill>
                <a:latin typeface="Calibri"/>
              </a:rPr>
              <a:t>Role:</a:t>
            </a:r>
            <a:r>
              <a:rPr sz="1300" b="0" i="0">
                <a:solidFill>
                  <a:srgbClr val="1F2A36"/>
                </a:solidFill>
                <a:latin typeface="Calibri"/>
              </a:rPr>
              <a:t> user and influencer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97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CUSTOMER JOURNEY (ENTERPRISE; INDIVIDUALS SKIP THE PILOT)</a:t>
            </a:r>
          </a:p>
        </p:txBody>
      </p:sp>
      <p:sp>
        <p:nvSpPr>
          <p:cNvPr id="22" name="Pentagon 21"/>
          <p:cNvSpPr/>
          <p:nvPr/>
        </p:nvSpPr>
        <p:spPr>
          <a:xfrm>
            <a:off x="548640" y="4663440"/>
            <a:ext cx="1691640" cy="566928"/>
          </a:xfrm>
          <a:prstGeom prst="homePlate">
            <a:avLst/>
          </a:prstGeom>
          <a:solidFill>
            <a:srgbClr val="BF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D274D"/>
                </a:solidFill>
                <a:latin typeface="Calibri"/>
              </a:rPr>
              <a:t>Unaware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21808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AI-leak news, Talos blogs</a:t>
            </a:r>
          </a:p>
        </p:txBody>
      </p:sp>
      <p:sp>
        <p:nvSpPr>
          <p:cNvPr id="24" name="Chevron 23"/>
          <p:cNvSpPr/>
          <p:nvPr/>
        </p:nvSpPr>
        <p:spPr>
          <a:xfrm>
            <a:off x="2148840" y="4663440"/>
            <a:ext cx="1691640" cy="566928"/>
          </a:xfrm>
          <a:prstGeom prst="chevron">
            <a:avLst/>
          </a:prstGeom>
          <a:solidFill>
            <a:srgbClr val="BF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D274D"/>
                </a:solidFill>
                <a:latin typeface="Calibri"/>
              </a:rPr>
              <a:t>Aware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5321808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Account team, partner, Web Store</a:t>
            </a:r>
          </a:p>
        </p:txBody>
      </p:sp>
      <p:sp>
        <p:nvSpPr>
          <p:cNvPr id="26" name="Chevron 25"/>
          <p:cNvSpPr/>
          <p:nvPr/>
        </p:nvSpPr>
        <p:spPr>
          <a:xfrm>
            <a:off x="3749039" y="4663440"/>
            <a:ext cx="1691640" cy="566928"/>
          </a:xfrm>
          <a:prstGeom prst="chevron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Consider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79" y="5321808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Demo, free tier, reviews</a:t>
            </a:r>
          </a:p>
        </p:txBody>
      </p:sp>
      <p:sp>
        <p:nvSpPr>
          <p:cNvPr id="28" name="Chevron 27"/>
          <p:cNvSpPr/>
          <p:nvPr/>
        </p:nvSpPr>
        <p:spPr>
          <a:xfrm>
            <a:off x="5349240" y="4663440"/>
            <a:ext cx="1691640" cy="566928"/>
          </a:xfrm>
          <a:prstGeom prst="chevron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79" y="5321808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4 weeks: monitor, then enforce</a:t>
            </a:r>
          </a:p>
        </p:txBody>
      </p:sp>
      <p:sp>
        <p:nvSpPr>
          <p:cNvPr id="30" name="Chevron 29"/>
          <p:cNvSpPr/>
          <p:nvPr/>
        </p:nvSpPr>
        <p:spPr>
          <a:xfrm>
            <a:off x="6949440" y="4663440"/>
            <a:ext cx="1691640" cy="566928"/>
          </a:xfrm>
          <a:prstGeom prst="chevron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Purchase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79" y="5321808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Partner / EA / in-app</a:t>
            </a:r>
          </a:p>
        </p:txBody>
      </p:sp>
      <p:sp>
        <p:nvSpPr>
          <p:cNvPr id="32" name="Chevron 31"/>
          <p:cNvSpPr/>
          <p:nvPr/>
        </p:nvSpPr>
        <p:spPr>
          <a:xfrm>
            <a:off x="8549640" y="4663440"/>
            <a:ext cx="1691640" cy="566928"/>
          </a:xfrm>
          <a:prstGeom prst="chevron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5321808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MDM deploy, inline tips</a:t>
            </a:r>
          </a:p>
        </p:txBody>
      </p:sp>
      <p:sp>
        <p:nvSpPr>
          <p:cNvPr id="34" name="Chevron 33"/>
          <p:cNvSpPr/>
          <p:nvPr/>
        </p:nvSpPr>
        <p:spPr>
          <a:xfrm>
            <a:off x="10149840" y="4663440"/>
            <a:ext cx="1691640" cy="566928"/>
          </a:xfrm>
          <a:prstGeom prst="chevron">
            <a:avLst/>
          </a:prstGeom>
          <a:solidFill>
            <a:srgbClr val="6CC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Advocate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5321808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Case study, referrals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4  CUSTOMER RESEARCH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D274D"/>
                </a:solidFill>
                <a:latin typeface="Calibri"/>
              </a:rPr>
              <a:t>Protection without friction wins; buyers and users value different things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Cisco AI Sentinel  |  Product proposal  |  Shikhar Prakash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585216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03504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Illustrative data: replace with real interview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5544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SEGMENT SPLIT (MEAN SCORE)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66560" y="1920240"/>
          <a:ext cx="484632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0D27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0D27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Individual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0D27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Tool access (RBAC)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Audit &amp; reports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Prompt optimizer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Preview &amp; undo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766560" y="3840480"/>
            <a:ext cx="48463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600"/>
              </a:spcAft>
              <a:buClr>
                <a:srgbClr val="049FD9"/>
              </a:buClr>
              <a:buChar char="•"/>
            </a:pPr>
            <a:r>
              <a:rPr sz="1300" b="1" i="0">
                <a:solidFill>
                  <a:srgbClr val="1F2A36"/>
                </a:solidFill>
                <a:latin typeface="Calibri"/>
              </a:rPr>
              <a:t>Top 2 (4.6):</a:t>
            </a:r>
            <a:r>
              <a:rPr sz="1300" b="0" i="0">
                <a:solidFill>
                  <a:srgbClr val="1F2A36"/>
                </a:solidFill>
                <a:latin typeface="Calibri"/>
              </a:rPr>
              <a:t> data redaction and low friction. Latency is a must-have</a:t>
            </a:r>
          </a:p>
          <a:p>
            <a:pPr marL="201168" indent="-201168" algn="l">
              <a:spcAft>
                <a:spcPts val="600"/>
              </a:spcAft>
              <a:buClr>
                <a:srgbClr val="049FD9"/>
              </a:buClr>
              <a:buChar char="•"/>
            </a:pPr>
            <a:r>
              <a:rPr sz="1300" b="1" i="0">
                <a:solidFill>
                  <a:srgbClr val="1F2A36"/>
                </a:solidFill>
                <a:latin typeface="Calibri"/>
              </a:rPr>
              <a:t>Local-first (4.4)</a:t>
            </a:r>
            <a:r>
              <a:rPr sz="1300" b="0" i="0">
                <a:solidFill>
                  <a:srgbClr val="1F2A36"/>
                </a:solidFill>
                <a:latin typeface="Calibri"/>
              </a:rPr>
              <a:t> matters to everyone: lead with 'checked on your device'</a:t>
            </a:r>
          </a:p>
          <a:p>
            <a:pPr marL="201168" indent="-201168" algn="l">
              <a:spcAft>
                <a:spcPts val="600"/>
              </a:spcAft>
              <a:buClr>
                <a:srgbClr val="049FD9"/>
              </a:buClr>
              <a:buChar char="•"/>
            </a:pPr>
            <a:r>
              <a:rPr sz="1300" b="1" i="0">
                <a:solidFill>
                  <a:srgbClr val="1F2A36"/>
                </a:solidFill>
                <a:latin typeface="Calibri"/>
              </a:rPr>
              <a:t>Split</a:t>
            </a:r>
            <a:r>
              <a:rPr sz="1300" b="0" i="0">
                <a:solidFill>
                  <a:srgbClr val="1F2A36"/>
                </a:solidFill>
                <a:latin typeface="Calibri"/>
              </a:rPr>
              <a:t> confirms one core, two packages: governance for buyers, Copilot for users</a:t>
            </a:r>
          </a:p>
          <a:p>
            <a:pPr marL="201168" indent="-201168" algn="l">
              <a:spcAft>
                <a:spcPts val="600"/>
              </a:spcAft>
              <a:buClr>
                <a:srgbClr val="049FD9"/>
              </a:buClr>
              <a:buChar char="•"/>
            </a:pPr>
            <a:r>
              <a:rPr sz="1300" b="1" i="0">
                <a:solidFill>
                  <a:srgbClr val="1F2A36"/>
                </a:solidFill>
                <a:latin typeface="Calibri"/>
              </a:rPr>
              <a:t>Savings dashboard (3.4)</a:t>
            </a:r>
            <a:r>
              <a:rPr sz="1300" b="0" i="0">
                <a:solidFill>
                  <a:srgbClr val="1F2A36"/>
                </a:solidFill>
                <a:latin typeface="Calibri"/>
              </a:rPr>
              <a:t> moves to P1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5  PRODUCT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D274D"/>
                </a:solidFill>
                <a:latin typeface="Calibri"/>
              </a:rPr>
              <a:t>Highest opportunity at moderate risk: build it, de-risked through an MVP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Cisco AI Sentinel  |  Product proposal  |  Shikhar Prakash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OPPORTUNITY COST &amp; DEVELOPMENT RISK (same 12-week budget)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6035040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Criterion (1-5)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0D27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A. AI Sentinel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0D27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B. Secure Access AI-DLP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0D27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C. Prompt optimiser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0D27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Market opportunity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Strategic fit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Differentiation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Revenue (3 yr)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Technical risk (5 = low)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Market risk (5 = low)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Weighted score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049FD9"/>
                          </a:solidFill>
                          <a:latin typeface="Calibri"/>
                        </a:rPr>
                        <a:t>3.9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3.7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2.6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166360"/>
            <a:ext cx="60350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Weighted: opportunity average x 60% + risk average x 40%. B stays in the plan as a later Secure Access integration.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PRODUCT / COMPANY FIT</a:t>
            </a:r>
          </a:p>
        </p:txBody>
      </p:sp>
      <p:sp>
        <p:nvSpPr>
          <p:cNvPr id="10" name="Oval 9"/>
          <p:cNvSpPr/>
          <p:nvPr/>
        </p:nvSpPr>
        <p:spPr>
          <a:xfrm>
            <a:off x="6949440" y="1965960"/>
            <a:ext cx="411480" cy="411480"/>
          </a:xfrm>
          <a:prstGeom prst="ellipse">
            <a:avLst/>
          </a:prstGeom>
          <a:solidFill>
            <a:srgbClr val="6CC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92024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A36"/>
                </a:solidFill>
                <a:latin typeface="Calibri"/>
              </a:rPr>
              <a:t>Duo identity, Talos intel, AI Defense models, Splunk, channel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0" y="2651760"/>
            <a:ext cx="411480" cy="411480"/>
          </a:xfrm>
          <a:prstGeom prst="ellipse">
            <a:avLst/>
          </a:prstGeom>
          <a:solidFill>
            <a:srgbClr val="FBA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60604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A36"/>
                </a:solidFill>
                <a:latin typeface="Calibri"/>
              </a:rPr>
              <a:t>Gaps: PLG / consumer motion, extension UX, prompt-quality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4290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PRODUCT / MARKET FIT: HYPOTHESES TO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794760"/>
            <a:ext cx="466344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5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Users prefer 'Redact &amp; send' over a hard block</a:t>
            </a:r>
          </a:p>
          <a:p>
            <a:pPr marL="201168" indent="-201168" algn="l">
              <a:spcAft>
                <a:spcPts val="5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Friction acceptable: p95 under 100 ms, one click</a:t>
            </a:r>
          </a:p>
          <a:p>
            <a:pPr marL="201168" indent="-201168" algn="l">
              <a:spcAft>
                <a:spcPts val="5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40%+ accept optimiser suggestions</a:t>
            </a:r>
          </a:p>
          <a:p>
            <a:pPr marL="201168" indent="-201168" algn="l">
              <a:spcAft>
                <a:spcPts val="5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Mid-market pays US$6-8/user/month without SSE</a:t>
            </a:r>
          </a:p>
          <a:p>
            <a:pPr marL="201168" indent="-201168" algn="l">
              <a:spcAft>
                <a:spcPts val="5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A browser extension is an acceptable MVP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5  PRODUCT STRATEGY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D274D"/>
                </a:solidFill>
                <a:latin typeface="Calibri"/>
              </a:rPr>
              <a:t>Positioned as security employees want installed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Cisco AI Sentinel  |  Product proposal  |  Shikhar Prakash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MARKETING MIX (4Ps)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651760" cy="128016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D274D"/>
                </a:solidFill>
                <a:latin typeface="Calibri"/>
              </a:rPr>
              <a:t>Product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Extension + console; Govern, Protect, Optimize; 4 tiers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920240"/>
            <a:ext cx="2651760" cy="128016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D274D"/>
                </a:solidFill>
                <a:latin typeface="Calibri"/>
              </a:rPr>
              <a:t>Price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Freemium + per-seat + metered advanced 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37560"/>
            <a:ext cx="2651760" cy="128016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D274D"/>
                </a:solidFill>
                <a:latin typeface="Calibri"/>
              </a:rPr>
              <a:t>Place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Chrome / Edge stores; Cisco account teams, partners, marketplaces, 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337560"/>
            <a:ext cx="2651760" cy="128016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D274D"/>
                </a:solidFill>
                <a:latin typeface="Calibri"/>
              </a:rPr>
              <a:t>Promotion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Talos AI-leak research, Cisco Live, partner enablement, communities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9204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49FD9"/>
                </a:solidFill>
                <a:latin typeface="Calibri"/>
              </a:rPr>
              <a:t>POSITIONING</a:t>
            </a:r>
          </a:p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FFFFFF"/>
                </a:solidFill>
                <a:latin typeface="Calibri"/>
              </a:rPr>
              <a:t>For AI-using organisations, AI Sentinel is the browser-native layer that unites governance, data protection and prompt optimisation, so the secure way is the most productive way.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THREE LEVELS OF THE PRODUCT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1920240"/>
            <a:ext cx="2834640" cy="2834640"/>
          </a:xfrm>
          <a:prstGeom prst="ellipse">
            <a:avLst/>
          </a:prstGeom>
          <a:solidFill>
            <a:srgbClr val="BF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35140" y="2354580"/>
            <a:ext cx="1965960" cy="1965960"/>
          </a:xfrm>
          <a:prstGeom prst="ellipse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269480" y="2788920"/>
            <a:ext cx="1097280" cy="1097280"/>
          </a:xfrm>
          <a:prstGeom prst="ellipse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0" y="1965960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D274D"/>
                </a:solidFill>
                <a:latin typeface="Calibri"/>
              </a:rPr>
              <a:t>Core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Confidence to use any AI tool safely, with better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880360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49FD9"/>
                </a:solidFill>
                <a:latin typeface="Calibri"/>
              </a:rPr>
              <a:t>Actual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Extension, inline redaction, Copilot, console, Cisco brand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794760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4BA3C7"/>
                </a:solidFill>
                <a:latin typeface="Calibri"/>
              </a:rPr>
              <a:t>Augmented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Duo SSO, Splunk/XDR, Talos packs, audit reports,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9204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BUSINESS &amp; REVENUE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212080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4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B2B SaaS with a product-led B2C on-ramp</a:t>
            </a:r>
          </a:p>
          <a:p>
            <a:pPr marL="201168" indent="-201168" algn="l">
              <a:spcAft>
                <a:spcPts val="4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Seats + metered ops + Personal Plus + add-ons; 75%+ GM target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6  CONCEPT TESTING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D274D"/>
                </a:solidFill>
                <a:latin typeface="Calibri"/>
              </a:rPr>
              <a:t>Lo-fi prototype tested 1-on-1 with three target customers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Cisco AI Sentinel  |  Product proposal  |  Shikhar Prakash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wf_prot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3566160" cy="22118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903523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0D274D"/>
                </a:solidFill>
                <a:latin typeface="Calibri"/>
              </a:rPr>
              <a:t>Protect: inline detection + 'Redact &amp; send'</a:t>
            </a:r>
          </a:p>
        </p:txBody>
      </p:sp>
      <p:pic>
        <p:nvPicPr>
          <p:cNvPr id="8" name="Picture 7" descr="wf_optim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79" y="1600200"/>
            <a:ext cx="3566160" cy="22118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79" y="3903523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0D274D"/>
                </a:solidFill>
                <a:latin typeface="Calibri"/>
              </a:rPr>
              <a:t>Optimize: Copilot before/after, accept / revert</a:t>
            </a:r>
          </a:p>
        </p:txBody>
      </p:sp>
      <p:pic>
        <p:nvPicPr>
          <p:cNvPr id="10" name="Picture 9" descr="wf_adm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19" y="1600200"/>
            <a:ext cx="3566160" cy="22118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19" y="3903523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0D274D"/>
                </a:solidFill>
                <a:latin typeface="Calibri"/>
              </a:rPr>
              <a:t>Govern: group policies, monitor / enforce, 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43400"/>
            <a:ext cx="11064240" cy="1874519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448056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00600"/>
            <a:ext cx="33832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A36"/>
                </a:solidFill>
                <a:latin typeface="Calibri"/>
              </a:rPr>
              <a:t>Qualitative think-aloud sessions (45 min) + 10-question survey with Likert, Sean Ellis and Van Westendorp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48056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PARTICIPANTS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800600"/>
            <a:ext cx="33832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3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Ananya: developer (Persona A)</a:t>
            </a:r>
          </a:p>
          <a:p>
            <a:pPr marL="201168" indent="-201168" algn="l">
              <a:spcAft>
                <a:spcPts val="3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Vikram: CISO (Persona B)</a:t>
            </a:r>
          </a:p>
          <a:p>
            <a:pPr marL="201168" indent="-201168" algn="l">
              <a:spcAft>
                <a:spcPts val="3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Meera: HR partner (Persona 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48056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800600"/>
            <a:ext cx="3474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3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Send a prompt containing a PAN + API key</a:t>
            </a:r>
          </a:p>
          <a:p>
            <a:pPr marL="201168" indent="-201168" algn="l">
              <a:spcAft>
                <a:spcPts val="3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Improve a vague prompt</a:t>
            </a:r>
          </a:p>
          <a:p>
            <a:pPr marL="201168" indent="-201168" algn="l">
              <a:spcAft>
                <a:spcPts val="3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Create an HR policy (CISO)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6  CONCEPT TEST RESULTS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D274D"/>
                </a:solidFill>
                <a:latin typeface="Calibri"/>
              </a:rPr>
              <a:t>Validated: clear, trusted and wanted, if it fixes rather than blocks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Cisco AI Sentinel  |  Product proposal  |  Shikhar Prakash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49FD9"/>
                </a:solidFill>
                <a:latin typeface="Calibri"/>
              </a:rPr>
              <a:t>3/3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completed the redaction task unaided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5448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62763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49FD9"/>
                </a:solidFill>
                <a:latin typeface="Calibri"/>
              </a:rPr>
              <a:t>4.7/5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4028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warning clarity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55448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62763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49FD9"/>
                </a:solidFill>
                <a:latin typeface="Calibri"/>
              </a:rPr>
              <a:t>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24028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'very disappointed' without it (PMF bar: 40%)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399" y="155448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59" y="162763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49FD9"/>
                </a:solidFill>
                <a:latin typeface="Calibri"/>
              </a:rPr>
              <a:t>Rs 399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224028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Personal price; US$6-8/user for business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1546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we learned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0D27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we change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0D27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1" i="0">
                          <a:solidFill>
                            <a:srgbClr val="1F2A36"/>
                          </a:solidFill>
                          <a:latin typeface="Calibri"/>
                        </a:rPr>
                        <a:t>Meera hesitated at 'Send anyway'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1F2A36"/>
                          </a:solidFill>
                          <a:latin typeface="Calibri"/>
                        </a:rPr>
                        <a:t>'Redact &amp; send' is the default; overrides need a reason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1" i="0">
                          <a:solidFill>
                            <a:srgbClr val="1F2A36"/>
                          </a:solidFill>
                          <a:latin typeface="Calibri"/>
                        </a:rPr>
                        <a:t>Auto pop-ups annoyed Ananya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1F2A36"/>
                          </a:solidFill>
                          <a:latin typeface="Calibri"/>
                        </a:rPr>
                        <a:t>Copilot on demand only; add a 'Concise' mode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1" i="0">
                          <a:solidFill>
                            <a:srgbClr val="1F2A36"/>
                          </a:solidFill>
                          <a:latin typeface="Calibri"/>
                        </a:rPr>
                        <a:t>Vikram won't block on day one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1F2A36"/>
                          </a:solidFill>
                          <a:latin typeface="Calibri"/>
                        </a:rPr>
                        <a:t>Monitor mode default for pilots; one-click enforce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1" i="0">
                          <a:solidFill>
                            <a:srgbClr val="1F2A36"/>
                          </a:solidFill>
                          <a:latin typeface="Calibri"/>
                        </a:rPr>
                        <a:t>Auditors need evidence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1F2A36"/>
                          </a:solidFill>
                          <a:latin typeface="Calibri"/>
                        </a:rPr>
                        <a:t>Metadata-only event export (CSV / Splunk) in the MVP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1" i="0">
                          <a:solidFill>
                            <a:srgbClr val="1F2A36"/>
                          </a:solidFill>
                          <a:latin typeface="Calibri"/>
                        </a:rPr>
                        <a:t>On-device message missed (3.7/5)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1F2A36"/>
                          </a:solidFill>
                          <a:latin typeface="Calibri"/>
                        </a:rPr>
                        <a:t>Persistent 'Checked on device' badge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Illustrative results (n = 3): replace with real sessions before submission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7  MVP &amp; PMF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D274D"/>
                </a:solidFill>
                <a:latin typeface="Calibri"/>
              </a:rPr>
              <a:t>Build a focused 12-week MVP, not a full platform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Cisco AI Sentinel  |  Product proposal  |  Shikhar Prakash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BA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002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D274D"/>
                </a:solidFill>
                <a:latin typeface="Calibri"/>
              </a:rPr>
              <a:t>Dev risk moderate-high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4767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UI changes break adapters; detection needs tuning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603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D274D"/>
                </a:solidFill>
                <a:latin typeface="Calibri"/>
              </a:rPr>
              <a:t>PMF unproven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07791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n = 3 tests; willingness to pay needs real money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rgbClr val="6CC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D274D"/>
                </a:solidFill>
                <a:latin typeface="Calibri"/>
              </a:rPr>
              <a:t>Opportunity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6791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MVP = 1 squad x 12 weeks vs. 3 squads x 12 months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120640" y="1600200"/>
          <a:ext cx="6492240" cy="2688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0D27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MVP scope (P0)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0D27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Apps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ChatGPT + Gemini web; Chrome &amp; Edge; status badge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Protect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Local secrets / PII checks; 'Redact &amp; send'; warn / block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Govern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Duo / Entra SSO, groups, monitor -&gt; enforce, signed policies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Optimize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On-demand Copilot, 3 modes, diff, accept / revert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Console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Policies, users, metadata-only event export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Out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Desktop apps, API traffic, every AI site, certification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45720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EARLY-SUCCESS FACTORS (PILOT EXIT CRITERIA)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1719072" cy="123444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50292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49FD9"/>
                </a:solidFill>
                <a:latin typeface="Calibri"/>
              </a:rPr>
              <a:t>≥ 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7784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session-1 activation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04872" y="4937760"/>
            <a:ext cx="1719072" cy="123444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14600" y="50292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49FD9"/>
                </a:solidFill>
                <a:latin typeface="Calibri"/>
              </a:rPr>
              <a:t>≤ 100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557784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p95 local latency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1103" y="4937760"/>
            <a:ext cx="1719072" cy="123444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70831" y="50292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49FD9"/>
                </a:solidFill>
                <a:latin typeface="Calibri"/>
              </a:rPr>
              <a:t>≥ 95%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1" y="557784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detection precision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17336" y="4937760"/>
            <a:ext cx="1719072" cy="123444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27064" y="50292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49FD9"/>
                </a:solidFill>
                <a:latin typeface="Calibri"/>
              </a:rPr>
              <a:t>≥ 40%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7064" y="557784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suggestion acceptance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3567" y="4937760"/>
            <a:ext cx="1719072" cy="123444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3295" y="50292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49FD9"/>
                </a:solidFill>
                <a:latin typeface="Calibri"/>
              </a:rPr>
              <a:t>≥ 35%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5" y="557784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week-4 retention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29799" y="4937760"/>
            <a:ext cx="1719072" cy="123444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39527" y="50292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49FD9"/>
                </a:solidFill>
                <a:latin typeface="Calibri"/>
              </a:rPr>
              <a:t>≥ 30%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9527" y="557784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pilot-to-paid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7  ROADMAP, PMF &amp; GROWTH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D274D"/>
                </a:solidFill>
                <a:latin typeface="Calibri"/>
              </a:rPr>
              <a:t>From discovery to commercial launch in six months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Cisco AI Sentinel  |  Product proposal  |  Shikhar Prakash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14</a:t>
            </a:r>
          </a:p>
        </p:txBody>
      </p:sp>
      <p:sp>
        <p:nvSpPr>
          <p:cNvPr id="6" name="Pentagon 5"/>
          <p:cNvSpPr/>
          <p:nvPr/>
        </p:nvSpPr>
        <p:spPr>
          <a:xfrm>
            <a:off x="548640" y="1600200"/>
            <a:ext cx="1920240" cy="548640"/>
          </a:xfrm>
          <a:prstGeom prst="homePlate">
            <a:avLst/>
          </a:prstGeom>
          <a:solidFill>
            <a:srgbClr val="BF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D274D"/>
                </a:solidFill>
                <a:latin typeface="Calibri"/>
              </a:rPr>
              <a:t>Wk 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24028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D274D"/>
                </a:solidFill>
                <a:latin typeface="Calibri"/>
              </a:rPr>
              <a:t>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56032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Interviews, threat model, pricing tests</a:t>
            </a:r>
          </a:p>
        </p:txBody>
      </p:sp>
      <p:sp>
        <p:nvSpPr>
          <p:cNvPr id="9" name="Chevron 8"/>
          <p:cNvSpPr/>
          <p:nvPr/>
        </p:nvSpPr>
        <p:spPr>
          <a:xfrm>
            <a:off x="2404872" y="1600200"/>
            <a:ext cx="1920240" cy="548640"/>
          </a:xfrm>
          <a:prstGeom prst="chevron">
            <a:avLst/>
          </a:prstGeom>
          <a:solidFill>
            <a:srgbClr val="BF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D274D"/>
                </a:solidFill>
                <a:latin typeface="Calibri"/>
              </a:rPr>
              <a:t>Wk 3-6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8024" y="224028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D274D"/>
                </a:solidFill>
                <a:latin typeface="Calibri"/>
              </a:rPr>
              <a:t>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8024" y="256032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2 apps, local checks, preview UX</a:t>
            </a:r>
          </a:p>
        </p:txBody>
      </p:sp>
      <p:sp>
        <p:nvSpPr>
          <p:cNvPr id="12" name="Chevron 11"/>
          <p:cNvSpPr/>
          <p:nvPr/>
        </p:nvSpPr>
        <p:spPr>
          <a:xfrm>
            <a:off x="4261103" y="1600200"/>
            <a:ext cx="1920240" cy="548640"/>
          </a:xfrm>
          <a:prstGeom prst="chevron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Wk 7-9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5" y="224028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D274D"/>
                </a:solidFill>
                <a:latin typeface="Calibri"/>
              </a:rPr>
              <a:t>Alpha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5" y="256032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RBAC, console, metering, red team</a:t>
            </a:r>
          </a:p>
        </p:txBody>
      </p:sp>
      <p:sp>
        <p:nvSpPr>
          <p:cNvPr id="15" name="Chevron 14"/>
          <p:cNvSpPr/>
          <p:nvPr/>
        </p:nvSpPr>
        <p:spPr>
          <a:xfrm>
            <a:off x="6117336" y="1600200"/>
            <a:ext cx="1920240" cy="548640"/>
          </a:xfrm>
          <a:prstGeom prst="chevron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Wk 10-12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24028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D274D"/>
                </a:solidFill>
                <a:latin typeface="Calibri"/>
              </a:rPr>
              <a:t>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256032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5 design partners + 500 beta users</a:t>
            </a:r>
          </a:p>
        </p:txBody>
      </p:sp>
      <p:sp>
        <p:nvSpPr>
          <p:cNvPr id="18" name="Chevron 17"/>
          <p:cNvSpPr/>
          <p:nvPr/>
        </p:nvSpPr>
        <p:spPr>
          <a:xfrm>
            <a:off x="7973567" y="1600200"/>
            <a:ext cx="1920240" cy="548640"/>
          </a:xfrm>
          <a:prstGeom prst="chevron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 4-6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24028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D274D"/>
                </a:solidFill>
                <a:latin typeface="Calibri"/>
              </a:rPr>
              <a:t>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256032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Cisco Live EMEA; Business GA</a:t>
            </a:r>
          </a:p>
        </p:txBody>
      </p:sp>
      <p:sp>
        <p:nvSpPr>
          <p:cNvPr id="21" name="Chevron 20"/>
          <p:cNvSpPr/>
          <p:nvPr/>
        </p:nvSpPr>
        <p:spPr>
          <a:xfrm>
            <a:off x="9829799" y="1600200"/>
            <a:ext cx="1920240" cy="548640"/>
          </a:xfrm>
          <a:prstGeom prst="chevron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 7-12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2951" y="224028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D274D"/>
                </a:solidFill>
                <a:latin typeface="Calibri"/>
              </a:rPr>
              <a:t>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51" y="256032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Secure Access, Splunk, more apps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5204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HOW WE REACH PMF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886200"/>
            <a:ext cx="4572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5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Beachhead: mid-market Duo / Meraki firms + developers</a:t>
            </a:r>
          </a:p>
          <a:p>
            <a:pPr marL="201168" indent="-201168" algn="l">
              <a:spcAft>
                <a:spcPts val="5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Sean Ellis test ≥ 40% 'very disappointed'</a:t>
            </a:r>
          </a:p>
          <a:p>
            <a:pPr marL="201168" indent="-201168" algn="l">
              <a:spcAft>
                <a:spcPts val="5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Retention curves flatten by cohort</a:t>
            </a:r>
          </a:p>
          <a:p>
            <a:pPr marL="201168" indent="-201168" algn="l">
              <a:spcAft>
                <a:spcPts val="5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Weekly review of false positives and overrides</a:t>
            </a:r>
          </a:p>
          <a:p>
            <a:pPr marL="201168" indent="-201168" algn="l">
              <a:spcAft>
                <a:spcPts val="5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5 design partners as co-builders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394960" y="3520440"/>
          <a:ext cx="6217920" cy="2688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AARRR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0D27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Growth experiment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0D27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Success metric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0D27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Acquire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Store listing A/B: 'safer' vs. 'better prompts'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+20% installs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Activate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Guided first run with a sample risky prompt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45% -&gt; 60%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Engage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Shortcut + subtle Copilot button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+25% uses / WAU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Retain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Weekly 'you were protected' digest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+5 pts W4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Refer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Invite a teammate: +100 ops each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K ≥ 0.2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1" i="0">
                          <a:solidFill>
                            <a:srgbClr val="1F2A36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Annual plan: 2 months free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200" b="0" i="0">
                          <a:solidFill>
                            <a:srgbClr val="1F2A36"/>
                          </a:solidFill>
                          <a:latin typeface="Calibri"/>
                        </a:rPr>
                        <a:t>≥ 40% annual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DE3"/>
                      </a:solidFill>
                    </a:lnL>
                    <a:lnR w="6350">
                      <a:solidFill>
                        <a:srgbClr val="D5DDE3"/>
                      </a:solidFill>
                    </a:lnR>
                    <a:lnT w="6350">
                      <a:solidFill>
                        <a:srgbClr val="D5DDE3"/>
                      </a:solidFill>
                    </a:lnT>
                    <a:lnB w="6350">
                      <a:solidFill>
                        <a:srgbClr val="D5DDE3"/>
                      </a:solidFill>
                    </a:lnB>
                    <a:solidFill>
                      <a:srgbClr val="EE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8  PRODUCT DEVELOPMENT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D274D"/>
                </a:solidFill>
                <a:latin typeface="Calibri"/>
              </a:rPr>
              <a:t>Design Thinking decides what to build; Agile delivers it safely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Cisco AI Sentinel  |  Product proposal  |  Shikhar Prakash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15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1554480"/>
            <a:ext cx="914400" cy="914400"/>
          </a:xfrm>
          <a:prstGeom prst="ellipse">
            <a:avLst/>
          </a:prstGeom>
          <a:solidFill>
            <a:srgbClr val="6CC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D274D"/>
                </a:solidFill>
                <a:latin typeface="Calibri"/>
              </a:rPr>
              <a:t>Empathise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Interviews, shadow AI sessions</a:t>
            </a:r>
          </a:p>
        </p:txBody>
      </p:sp>
      <p:sp>
        <p:nvSpPr>
          <p:cNvPr id="9" name="Oval 8"/>
          <p:cNvSpPr/>
          <p:nvPr/>
        </p:nvSpPr>
        <p:spPr>
          <a:xfrm>
            <a:off x="3383280" y="1554480"/>
            <a:ext cx="914400" cy="914400"/>
          </a:xfrm>
          <a:prstGeom prst="ellipse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5603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D274D"/>
                </a:solidFill>
                <a:latin typeface="Calibri"/>
              </a:rPr>
              <a:t>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88036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POV + 'How might we'</a:t>
            </a:r>
          </a:p>
        </p:txBody>
      </p:sp>
      <p:sp>
        <p:nvSpPr>
          <p:cNvPr id="12" name="Oval 11"/>
          <p:cNvSpPr/>
          <p:nvPr/>
        </p:nvSpPr>
        <p:spPr>
          <a:xfrm>
            <a:off x="5623560" y="1554480"/>
            <a:ext cx="914400" cy="914400"/>
          </a:xfrm>
          <a:prstGeom prst="ellipse">
            <a:avLst/>
          </a:prstGeom>
          <a:solidFill>
            <a:srgbClr val="0A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5603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D274D"/>
                </a:solidFill>
                <a:latin typeface="Calibri"/>
              </a:rPr>
              <a:t>Ideate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88036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Workshops, Crazy 8s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1554480"/>
            <a:ext cx="914400" cy="914400"/>
          </a:xfrm>
          <a:prstGeom prst="ellipse">
            <a:avLst/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5603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D274D"/>
                </a:solidFill>
                <a:latin typeface="Calibri"/>
              </a:rPr>
              <a:t>Prototype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88036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Lo-fi -&gt; Figma -&gt; spike</a:t>
            </a:r>
          </a:p>
        </p:txBody>
      </p:sp>
      <p:sp>
        <p:nvSpPr>
          <p:cNvPr id="18" name="Oval 17"/>
          <p:cNvSpPr/>
          <p:nvPr/>
        </p:nvSpPr>
        <p:spPr>
          <a:xfrm>
            <a:off x="10104120" y="1554480"/>
            <a:ext cx="914400" cy="914400"/>
          </a:xfrm>
          <a:prstGeom prst="ellipse">
            <a:avLst/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5603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D274D"/>
                </a:solidFill>
                <a:latin typeface="Calibri"/>
              </a:rP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88036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Usability, pilots, A/B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1188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DISCOVERY TRACK  (Design Thinking)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3703320"/>
            <a:ext cx="1280160" cy="73152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049FD9"/>
                </a:solidFill>
                <a:latin typeface="Calibri"/>
              </a:rPr>
              <a:t>S1-2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Empathise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0" y="3703320"/>
            <a:ext cx="1280160" cy="73152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049FD9"/>
                </a:solidFill>
                <a:latin typeface="Calibri"/>
              </a:rPr>
              <a:t>S3-4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Ideate + lo-fi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703320"/>
            <a:ext cx="1280160" cy="73152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049FD9"/>
                </a:solidFill>
                <a:latin typeface="Calibri"/>
              </a:rPr>
              <a:t>S5-6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Hi-fi Copilot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3703320"/>
            <a:ext cx="1280160" cy="73152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049FD9"/>
                </a:solidFill>
                <a:latin typeface="Calibri"/>
              </a:rPr>
              <a:t>S7-8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Console tests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3703320"/>
            <a:ext cx="1280160" cy="73152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049FD9"/>
                </a:solidFill>
                <a:latin typeface="Calibri"/>
              </a:rPr>
              <a:t>S9-10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Pricing tests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87000" y="3703320"/>
            <a:ext cx="1280160" cy="73152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049FD9"/>
                </a:solidFill>
                <a:latin typeface="Calibri"/>
              </a:rPr>
              <a:t>S11-12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1F2A36"/>
                </a:solidFill>
                <a:latin typeface="Calibri"/>
              </a:rPr>
              <a:t>Pilot synthesis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66344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DELIVERY TRACK  (Scrum, 2-week sprints)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4754879"/>
            <a:ext cx="1280160" cy="731520"/>
          </a:xfrm>
          <a:prstGeom prst="roundRect">
            <a:avLst>
              <a:gd name="adj" fmla="val 6000"/>
            </a:avLst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BFE6F7"/>
                </a:solidFill>
                <a:latin typeface="Calibri"/>
              </a:rPr>
              <a:t>S1-2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Spike, CI/CD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00600" y="4754879"/>
            <a:ext cx="1280160" cy="731520"/>
          </a:xfrm>
          <a:prstGeom prst="roundRect">
            <a:avLst>
              <a:gd name="adj" fmla="val 6000"/>
            </a:avLst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BFE6F7"/>
                </a:solidFill>
                <a:latin typeface="Calibri"/>
              </a:rPr>
              <a:t>S3-4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Extension, adapters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4754879"/>
            <a:ext cx="1280160" cy="731520"/>
          </a:xfrm>
          <a:prstGeom prst="roundRect">
            <a:avLst>
              <a:gd name="adj" fmla="val 6000"/>
            </a:avLst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BFE6F7"/>
                </a:solidFill>
                <a:latin typeface="Calibri"/>
              </a:rPr>
              <a:t>S5-6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Redaction, 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4754879"/>
            <a:ext cx="1280160" cy="731520"/>
          </a:xfrm>
          <a:prstGeom prst="roundRect">
            <a:avLst>
              <a:gd name="adj" fmla="val 6000"/>
            </a:avLst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BFE6F7"/>
                </a:solidFill>
                <a:latin typeface="Calibri"/>
              </a:rPr>
              <a:t>S7-8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Console, RBAC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4754879"/>
            <a:ext cx="1280160" cy="731520"/>
          </a:xfrm>
          <a:prstGeom prst="roundRect">
            <a:avLst>
              <a:gd name="adj" fmla="val 6000"/>
            </a:avLst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BFE6F7"/>
                </a:solidFill>
                <a:latin typeface="Calibri"/>
              </a:rPr>
              <a:t>S9-10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Hardening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87000" y="4754879"/>
            <a:ext cx="1280160" cy="731520"/>
          </a:xfrm>
          <a:prstGeom prst="roundRect">
            <a:avLst>
              <a:gd name="adj" fmla="val 6000"/>
            </a:avLst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BFE6F7"/>
                </a:solidFill>
                <a:latin typeface="Calibri"/>
              </a:rPr>
              <a:t>S11-12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Launch ready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2A36"/>
                </a:solidFill>
                <a:latin typeface="Calibri"/>
              </a:rPr>
              <a:t>Squad of ~10:</a:t>
            </a:r>
            <a:r>
              <a:rPr sz="1300" b="0" i="0">
                <a:solidFill>
                  <a:srgbClr val="1F2A36"/>
                </a:solidFill>
                <a:latin typeface="Calibri"/>
              </a:rPr>
              <a:t> PM, designer, 5 engineers, ML engineer, security researcher, QA.  </a:t>
            </a:r>
            <a:r>
              <a:rPr sz="1300" b="1" i="0">
                <a:solidFill>
                  <a:srgbClr val="1F2A36"/>
                </a:solidFill>
                <a:latin typeface="Calibri"/>
              </a:rPr>
              <a:t>Definition of Done:</a:t>
            </a:r>
            <a:r>
              <a:rPr sz="1300" b="0" i="0">
                <a:solidFill>
                  <a:srgbClr val="1F2A36"/>
                </a:solidFill>
                <a:latin typeface="Calibri"/>
              </a:rPr>
              <a:t> no precision/recall regression, privacy review passed, adapter health checks green.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9  PRICING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D274D"/>
                </a:solidFill>
                <a:latin typeface="Calibri"/>
              </a:rPr>
              <a:t>Free where safety is cheap; charge for value and for costly inference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Cisco AI Sentinel  |  Product proposal  |  Shikhar Prakash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EE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D274D"/>
                </a:solidFill>
                <a:latin typeface="Calibri"/>
              </a:rPr>
              <a:t>Personal 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D274D"/>
                </a:solidFill>
                <a:latin typeface="Calibri"/>
              </a:rPr>
              <a:t>Rs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D274D"/>
                </a:solidFill>
                <a:latin typeface="Calibri"/>
              </a:rPr>
              <a:t>Local checks, basic clean-up, 50 advanced 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BF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166420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D274D"/>
                </a:solidFill>
                <a:latin typeface="Calibri"/>
              </a:rPr>
              <a:t>Personal 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0116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D274D"/>
                </a:solidFill>
                <a:latin typeface="Calibri"/>
              </a:rPr>
              <a:t>Rs 399/mo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60604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D274D"/>
                </a:solidFill>
                <a:latin typeface="Calibri"/>
              </a:rPr>
              <a:t>1,000 ops, all Copilot modes; US$6.99 intl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155448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166420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0116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US$8/user/mo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60604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RBAC, console, SSO, export; 500 pooled ops/user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399" y="1554480"/>
            <a:ext cx="2651760" cy="1920240"/>
          </a:xfrm>
          <a:prstGeom prst="roundRect">
            <a:avLst>
              <a:gd name="adj" fmla="val 6000"/>
            </a:avLst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79" y="166420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79" y="20116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US$6-7 at volume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79" y="260604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EA bundle, Splunk/XDR, retention,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661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Overage: US$2 per 1,000 advanced ops with default spend caps. Seat contribution margin ~65% of list, rising as local checks absorb more traffic.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548640" y="3977639"/>
          <a:ext cx="42062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Oval 23"/>
          <p:cNvSpPr/>
          <p:nvPr/>
        </p:nvSpPr>
        <p:spPr>
          <a:xfrm>
            <a:off x="5120640" y="4023360"/>
            <a:ext cx="411480" cy="411480"/>
          </a:xfrm>
          <a:prstGeom prst="ellipse">
            <a:avLst/>
          </a:prstGeom>
          <a:solidFill>
            <a:srgbClr val="6CC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59" y="4005072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D274D"/>
                </a:solidFill>
                <a:latin typeface="Calibri"/>
              </a:rPr>
              <a:t>Raise price when |PED| &lt;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572000"/>
            <a:ext cx="31089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4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Move Plus toward Rs 499-549 for new users</a:t>
            </a:r>
          </a:p>
          <a:p>
            <a:pPr marL="201168" indent="-201168" algn="l">
              <a:spcAft>
                <a:spcPts val="4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Grandfather early users 12 months</a:t>
            </a:r>
          </a:p>
          <a:p>
            <a:pPr marL="201168" indent="-201168" algn="l">
              <a:spcAft>
                <a:spcPts val="4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Raise enterprise price as new value ships</a:t>
            </a:r>
          </a:p>
        </p:txBody>
      </p:sp>
      <p:sp>
        <p:nvSpPr>
          <p:cNvPr id="27" name="Oval 26"/>
          <p:cNvSpPr/>
          <p:nvPr/>
        </p:nvSpPr>
        <p:spPr>
          <a:xfrm>
            <a:off x="8412480" y="4023360"/>
            <a:ext cx="411480" cy="411480"/>
          </a:xfrm>
          <a:prstGeom prst="ellipse">
            <a:avLst/>
          </a:prstGeom>
          <a:solidFill>
            <a:srgbClr val="FBA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4005072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D274D"/>
                </a:solidFill>
                <a:latin typeface="Calibri"/>
              </a:rPr>
              <a:t>Lower price when |PED| &gt;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572000"/>
            <a:ext cx="31089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4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Test Rs 299, student plan Rs 149</a:t>
            </a:r>
          </a:p>
          <a:p>
            <a:pPr marL="201168" indent="-201168" algn="l">
              <a:spcAft>
                <a:spcPts val="4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Volume / EA bundle discounts</a:t>
            </a:r>
          </a:p>
          <a:p>
            <a:pPr marL="201168" indent="-201168" algn="l">
              <a:spcAft>
                <a:spcPts val="4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Time-boxed launch promotions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10  GO-TO-MARKET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D274D"/>
                </a:solidFill>
                <a:latin typeface="Calibri"/>
              </a:rPr>
              <a:t>Partner-led enterprise motion, fuelled by a product-led on-ramp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Cisco AI Sentinel  |  Product proposal  |  Shikhar Prakash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15087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ENTERPRISE (CISO / 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15087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INDIVIDUAL (POWER USER)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291840" cy="749808"/>
          </a:xfrm>
          <a:prstGeom prst="roundRect">
            <a:avLst>
              <a:gd name="adj" fmla="val 6000"/>
            </a:avLst>
          </a:prstGeom>
          <a:solidFill>
            <a:srgbClr val="BF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274D"/>
                </a:solidFill>
                <a:latin typeface="Calibri"/>
              </a:rPr>
              <a:t>Awareness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874519"/>
            <a:ext cx="36576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Talos 'State of Shadow AI' report, Cisco Live demo, partner newsletters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874519"/>
            <a:ext cx="36576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Developer communities, creators, Product Hunt, Web Store SEO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" y="2743200"/>
            <a:ext cx="2880360" cy="749808"/>
          </a:xfrm>
          <a:prstGeom prst="roundRect">
            <a:avLst>
              <a:gd name="adj" fmla="val 6000"/>
            </a:avLst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Interest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743200"/>
            <a:ext cx="36576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CISO webinars; free 'Shadow AI Risk Check' (monitor mode)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43200"/>
            <a:ext cx="36576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Short demos of 'Redact &amp; send'; free tier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19" y="3611879"/>
            <a:ext cx="2468880" cy="749808"/>
          </a:xfrm>
          <a:prstGeom prst="roundRect">
            <a:avLst>
              <a:gd name="adj" fmla="val 6000"/>
            </a:avLst>
          </a:prstGeom>
          <a:solidFill>
            <a:srgbClr val="0A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Consideration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3611879"/>
            <a:ext cx="36576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Comparison guides, ROI calculator, reference calls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611879"/>
            <a:ext cx="36576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Reviews, privacy page, in-product wins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65860" y="4480559"/>
            <a:ext cx="2057400" cy="749808"/>
          </a:xfrm>
          <a:prstGeom prst="roundRect">
            <a:avLst>
              <a:gd name="adj" fmla="val 6000"/>
            </a:avLst>
          </a:prstGeom>
          <a:solidFill>
            <a:srgbClr val="0D2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4480559"/>
            <a:ext cx="36576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4-week paid pilot (credited); security review pack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480559"/>
            <a:ext cx="36576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Nudges at quota limits; Plus trial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349240"/>
            <a:ext cx="1645920" cy="749808"/>
          </a:xfrm>
          <a:prstGeom prst="roundRect">
            <a:avLst>
              <a:gd name="adj" fmla="val 6000"/>
            </a:avLst>
          </a:prstGeom>
          <a:solidFill>
            <a:srgbClr val="6CC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Purchase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5349240"/>
            <a:ext cx="36576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Partner quote, EA add-on, Cisco / AWS marketplace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5349240"/>
            <a:ext cx="36576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A36"/>
                </a:solidFill>
                <a:latin typeface="Calibri"/>
              </a:rPr>
              <a:t>In-app upgrade (UPI / cards); annual offer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10  SCALING &amp; THE ASK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From customer zero to hundreds, then the decision we need today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FB3C8"/>
                </a:solidFill>
                <a:latin typeface="Calibri"/>
              </a:rPr>
              <a:t>Cisco AI Sentinel  |  Product proposal  |  Shikhar Prakash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9FB3C8"/>
                </a:solidFill>
                <a:latin typeface="Calibr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46120"/>
            <a:ext cx="2468880" cy="2926080"/>
          </a:xfrm>
          <a:prstGeom prst="roundRect">
            <a:avLst>
              <a:gd name="adj" fmla="val 6000"/>
            </a:avLst>
          </a:prstGeom>
          <a:solidFill>
            <a:srgbClr val="17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3383279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0 →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886200"/>
            <a:ext cx="2194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Customer zero: Cisco IT. 15 nominated Duo / Meraki accounts, 5 paid pilots (US$2,500, credited). Founder-led selling.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6235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FE6F7"/>
                </a:solidFill>
                <a:latin typeface="Calibri"/>
              </a:rPr>
              <a:t>10 logos by month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2560320"/>
            <a:ext cx="2468880" cy="3611880"/>
          </a:xfrm>
          <a:prstGeom prst="roundRect">
            <a:avLst>
              <a:gd name="adj" fmla="val 6000"/>
            </a:avLst>
          </a:prstGeom>
          <a:solidFill>
            <a:srgbClr val="0A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9272" y="2697479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10 →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3200400"/>
            <a:ext cx="2194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50 Gold partners and MSSPs, Duo / Meraki in-console offers, Secure Access bundle at EA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56235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FE6F7"/>
                </a:solidFill>
                <a:latin typeface="Calibri"/>
              </a:rPr>
              <a:t>100 customers by month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874519"/>
            <a:ext cx="2468880" cy="4297680"/>
          </a:xfrm>
          <a:prstGeom prst="roundRect">
            <a:avLst>
              <a:gd name="adj" fmla="val 6000"/>
            </a:avLst>
          </a:prstGeom>
          <a:solidFill>
            <a:srgbClr val="049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25312" y="2011679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100 → 1,000s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2514600"/>
            <a:ext cx="2194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PLG signals (10+ free users per domain -&gt; PQL), Talos research flywheel, Cisco Live case studies.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56235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FE6F7"/>
                </a:solidFill>
                <a:latin typeface="Calibri"/>
              </a:rPr>
              <a:t>US$20M ARR by month 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1691640"/>
            <a:ext cx="31089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0" y="18288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9FD9"/>
                </a:solidFill>
                <a:latin typeface="Calibri"/>
              </a:rPr>
              <a:t>DECISION REQUESTED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19456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D274D"/>
                </a:solidFill>
                <a:latin typeface="Calibri"/>
              </a:rPr>
              <a:t>Approve the 12-week AI Sentinel MVP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246120"/>
            <a:ext cx="278892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6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~US$1.2M: one squad</a:t>
            </a:r>
          </a:p>
          <a:p>
            <a:pPr marL="201168" indent="-201168" algn="l">
              <a:spcAft>
                <a:spcPts val="6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5 paid design-partner pilots</a:t>
            </a:r>
          </a:p>
          <a:p>
            <a:pPr marL="201168" indent="-201168" algn="l">
              <a:spcAft>
                <a:spcPts val="6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Launch / no-launch gate in Jan 2027 against the exit criteria</a:t>
            </a:r>
          </a:p>
          <a:p>
            <a:pPr marL="201168" indent="-201168" algn="l">
              <a:spcAft>
                <a:spcPts val="600"/>
              </a:spcAft>
              <a:buClr>
                <a:srgbClr val="049FD9"/>
              </a:buClr>
              <a:buChar char="•"/>
            </a:pPr>
            <a:r>
              <a:rPr sz="1300" b="0" i="0">
                <a:solidFill>
                  <a:srgbClr val="1F2A36"/>
                </a:solidFill>
                <a:latin typeface="Calibri"/>
              </a:rPr>
              <a:t>Upside: path to US$77M ARR by FY2029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bdace7b-419a-4620-be26-5a3fa6f280f9" xsi:nil="true"/>
    <lcf76f155ced4ddcb4097134ff3c332f xmlns="41077cac-fa1c-4939-a97a-a20b352af60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F373DBC30DDB459CEFB92C6B00A939" ma:contentTypeVersion="16" ma:contentTypeDescription="Create a new document." ma:contentTypeScope="" ma:versionID="bb1187771957738a701eff473ffa4090">
  <xsd:schema xmlns:xsd="http://www.w3.org/2001/XMLSchema" xmlns:xs="http://www.w3.org/2001/XMLSchema" xmlns:p="http://schemas.microsoft.com/office/2006/metadata/properties" xmlns:ns2="41077cac-fa1c-4939-a97a-a20b352af600" xmlns:ns3="7bdace7b-419a-4620-be26-5a3fa6f280f9" targetNamespace="http://schemas.microsoft.com/office/2006/metadata/properties" ma:root="true" ma:fieldsID="2a1454b708f4c1608b643ad73246adc0" ns2:_="" ns3:_="">
    <xsd:import namespace="41077cac-fa1c-4939-a97a-a20b352af600"/>
    <xsd:import namespace="7bdace7b-419a-4620-be26-5a3fa6f280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077cac-fa1c-4939-a97a-a20b352af6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8679018-c8b5-43e9-adcd-8cca0014b2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dace7b-419a-4620-be26-5a3fa6f280f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f3da60f-b4b7-4509-b80c-25011b1998e9}" ma:internalName="TaxCatchAll" ma:showField="CatchAllData" ma:web="7bdace7b-419a-4620-be26-5a3fa6f280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65BECA8-D4F4-4709-B58B-FE8D8BDA19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E19A79-0306-439E-A2A3-10AE7EE935CD}">
  <ds:schemaRefs>
    <ds:schemaRef ds:uri="http://schemas.microsoft.com/office/2006/metadata/properties"/>
    <ds:schemaRef ds:uri="http://schemas.microsoft.com/office/infopath/2007/PartnerControls"/>
    <ds:schemaRef ds:uri="7bdace7b-419a-4620-be26-5a3fa6f280f9"/>
    <ds:schemaRef ds:uri="41077cac-fa1c-4939-a97a-a20b352af600"/>
  </ds:schemaRefs>
</ds:datastoreItem>
</file>

<file path=customXml/itemProps3.xml><?xml version="1.0" encoding="utf-8"?>
<ds:datastoreItem xmlns:ds="http://schemas.openxmlformats.org/officeDocument/2006/customXml" ds:itemID="{92DE8E50-7521-446F-8EA7-405F793BA4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077cac-fa1c-4939-a97a-a20b352af600"/>
    <ds:schemaRef ds:uri="7bdace7b-419a-4620-be26-5a3fa6f280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189e4fd-a2fa-47bf-9b21-17f706ee2968}" enabled="1" method="Privilege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2752</Words>
  <Application>Microsoft Macintosh PowerPoint</Application>
  <PresentationFormat>Widescreen</PresentationFormat>
  <Paragraphs>497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Proposal for Cisco AI Sentinel</dc:title>
  <dc:creator>Shikhar Prakash</dc:creator>
  <cp:lastModifiedBy>Shikhar Prakash (shikprak)</cp:lastModifiedBy>
  <cp:revision>5</cp:revision>
  <dcterms:created xsi:type="dcterms:W3CDTF">2022-12-20T18:47:32Z</dcterms:created>
  <dcterms:modified xsi:type="dcterms:W3CDTF">2026-10-09T09:25:29Z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0x01010047F373DBC30DDB459CEFB92C6B00A939</vt:lpwstr>
  </property>
  <property fmtid="{D5CDD505-2E9C-101B-9397-08002B2CF9AE}" pid="3" name="ClassificationContentMarkingFooterLocations">
    <vt:lpwstr>Office Theme:8</vt:lpwstr>
  </property>
  <property fmtid="{D5CDD505-2E9C-101B-9397-08002B2CF9AE}" pid="4" name="ClassificationContentMarkingFooterText">
    <vt:lpwstr>-</vt:lpwstr>
  </property>
</Properties>
</file>